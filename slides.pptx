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Raleway Bold" charset="1" panose="00000000000000000000"/>
      <p:regular r:id="rId14"/>
    </p:embeddedFont>
    <p:embeddedFont>
      <p:font typeface="Raleway" charset="1" panose="00000000000000000000"/>
      <p:regular r:id="rId15"/>
    </p:embeddedFont>
    <p:embeddedFont>
      <p:font typeface="Cambria Bold" charset="1" panose="02040803050406030204"/>
      <p:regular r:id="rId16"/>
    </p:embeddedFon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Calibri (MS) Bold Italics" charset="1" panose="020F07020304040A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sv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jpe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svg" Type="http://schemas.openxmlformats.org/officeDocument/2006/relationships/image"/><Relationship Id="rId9" Target="../media/image8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Relationship Id="rId3" Target="../media/image1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3.svg" Type="http://schemas.openxmlformats.org/officeDocument/2006/relationships/image"/><Relationship Id="rId2" Target="../media/image14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8.png" Type="http://schemas.openxmlformats.org/officeDocument/2006/relationships/image"/><Relationship Id="rId6" Target="../media/image19.svg" Type="http://schemas.openxmlformats.org/officeDocument/2006/relationships/image"/><Relationship Id="rId7" Target="../media/image20.png" Type="http://schemas.openxmlformats.org/officeDocument/2006/relationships/image"/><Relationship Id="rId8" Target="../media/image21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1.svg" Type="http://schemas.openxmlformats.org/officeDocument/2006/relationships/image"/><Relationship Id="rId2" Target="../media/image14.jpeg" Type="http://schemas.openxmlformats.org/officeDocument/2006/relationships/image"/><Relationship Id="rId3" Target="../media/image24.png" Type="http://schemas.openxmlformats.org/officeDocument/2006/relationships/image"/><Relationship Id="rId4" Target="../media/image25.svg" Type="http://schemas.openxmlformats.org/officeDocument/2006/relationships/image"/><Relationship Id="rId5" Target="../media/image26.png" Type="http://schemas.openxmlformats.org/officeDocument/2006/relationships/image"/><Relationship Id="rId6" Target="../media/image27.svg" Type="http://schemas.openxmlformats.org/officeDocument/2006/relationships/image"/><Relationship Id="rId7" Target="../media/image28.png" Type="http://schemas.openxmlformats.org/officeDocument/2006/relationships/image"/><Relationship Id="rId8" Target="../media/image29.svg" Type="http://schemas.openxmlformats.org/officeDocument/2006/relationships/image"/><Relationship Id="rId9" Target="../media/image30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500648" y="-1647633"/>
            <a:ext cx="4111445" cy="4487252"/>
          </a:xfrm>
          <a:custGeom>
            <a:avLst/>
            <a:gdLst/>
            <a:ahLst/>
            <a:cxnLst/>
            <a:rect r="r" b="b" t="t" l="l"/>
            <a:pathLst>
              <a:path h="4487252" w="4111445">
                <a:moveTo>
                  <a:pt x="0" y="0"/>
                </a:moveTo>
                <a:lnTo>
                  <a:pt x="4111444" y="0"/>
                </a:lnTo>
                <a:lnTo>
                  <a:pt x="4111444" y="4487252"/>
                </a:lnTo>
                <a:lnTo>
                  <a:pt x="0" y="448725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898023" y="1028700"/>
            <a:ext cx="5361277" cy="8229600"/>
          </a:xfrm>
          <a:custGeom>
            <a:avLst/>
            <a:gdLst/>
            <a:ahLst/>
            <a:cxnLst/>
            <a:rect r="r" b="b" t="t" l="l"/>
            <a:pathLst>
              <a:path h="8229600" w="5361277">
                <a:moveTo>
                  <a:pt x="0" y="0"/>
                </a:moveTo>
                <a:lnTo>
                  <a:pt x="5361277" y="0"/>
                </a:lnTo>
                <a:lnTo>
                  <a:pt x="5361277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86445" t="0" r="-86445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8787134" y="6444335"/>
            <a:ext cx="3786881" cy="4133021"/>
          </a:xfrm>
          <a:custGeom>
            <a:avLst/>
            <a:gdLst/>
            <a:ahLst/>
            <a:cxnLst/>
            <a:rect r="r" b="b" t="t" l="l"/>
            <a:pathLst>
              <a:path h="4133021" w="3786881">
                <a:moveTo>
                  <a:pt x="0" y="0"/>
                </a:moveTo>
                <a:lnTo>
                  <a:pt x="3786881" y="0"/>
                </a:lnTo>
                <a:lnTo>
                  <a:pt x="3786881" y="4133021"/>
                </a:lnTo>
                <a:lnTo>
                  <a:pt x="0" y="413302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6403052" y="595993"/>
            <a:ext cx="1130795" cy="3086100"/>
            <a:chOff x="0" y="0"/>
            <a:chExt cx="297823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97823" cy="812800"/>
            </a:xfrm>
            <a:custGeom>
              <a:avLst/>
              <a:gdLst/>
              <a:ahLst/>
              <a:cxnLst/>
              <a:rect r="r" b="b" t="t" l="l"/>
              <a:pathLst>
                <a:path h="812800" w="297823">
                  <a:moveTo>
                    <a:pt x="0" y="0"/>
                  </a:moveTo>
                  <a:lnTo>
                    <a:pt x="297823" y="0"/>
                  </a:lnTo>
                  <a:lnTo>
                    <a:pt x="297823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84500"/>
                  </a:srgbClr>
                </a:gs>
                <a:gs pos="100000">
                  <a:srgbClr val="01114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297823" cy="86042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1443220" y="8630285"/>
            <a:ext cx="1130795" cy="1143000"/>
            <a:chOff x="0" y="0"/>
            <a:chExt cx="297823" cy="301037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97823" cy="301037"/>
            </a:xfrm>
            <a:custGeom>
              <a:avLst/>
              <a:gdLst/>
              <a:ahLst/>
              <a:cxnLst/>
              <a:rect r="r" b="b" t="t" l="l"/>
              <a:pathLst>
                <a:path h="301037" w="297823">
                  <a:moveTo>
                    <a:pt x="0" y="0"/>
                  </a:moveTo>
                  <a:lnTo>
                    <a:pt x="297823" y="0"/>
                  </a:lnTo>
                  <a:lnTo>
                    <a:pt x="297823" y="301037"/>
                  </a:lnTo>
                  <a:lnTo>
                    <a:pt x="0" y="301037"/>
                  </a:lnTo>
                  <a:close/>
                </a:path>
              </a:pathLst>
            </a:custGeom>
            <a:gradFill rotWithShape="true">
              <a:gsLst>
                <a:gs pos="0">
                  <a:srgbClr val="5CE1E6">
                    <a:alpha val="84500"/>
                  </a:srgbClr>
                </a:gs>
                <a:gs pos="100000">
                  <a:srgbClr val="011149">
                    <a:alpha val="0"/>
                  </a:srgbClr>
                </a:gs>
              </a:gsLst>
              <a:lin ang="540000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297823" cy="34866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-652288" y="297403"/>
            <a:ext cx="3361975" cy="3669277"/>
          </a:xfrm>
          <a:custGeom>
            <a:avLst/>
            <a:gdLst/>
            <a:ahLst/>
            <a:cxnLst/>
            <a:rect r="r" b="b" t="t" l="l"/>
            <a:pathLst>
              <a:path h="3669277" w="3361975">
                <a:moveTo>
                  <a:pt x="0" y="0"/>
                </a:moveTo>
                <a:lnTo>
                  <a:pt x="3361976" y="0"/>
                </a:lnTo>
                <a:lnTo>
                  <a:pt x="3361976" y="3669277"/>
                </a:lnTo>
                <a:lnTo>
                  <a:pt x="0" y="366927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778169" y="8593475"/>
            <a:ext cx="1090838" cy="73620"/>
            <a:chOff x="0" y="0"/>
            <a:chExt cx="1454450" cy="9815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678145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1017218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60" y="0"/>
                  </a:lnTo>
                  <a:lnTo>
                    <a:pt x="98160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1356291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extLst>
                  <a:ext uri="{96DAC541-7B7A-43D3-8B79-37D633B846F1}">
                    <asvg:svgBlip xmlns:asvg="http://schemas.microsoft.com/office/drawing/2016/SVG/main" r:embed="rId10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339073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>
                <a:extLst>
                  <a:ext uri="{96DAC541-7B7A-43D3-8B79-37D633B846F1}">
                    <asvg:svgBlip xmlns:asvg="http://schemas.microsoft.com/office/drawing/2016/SVG/main" r:embed="rId12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8159" cy="98159"/>
            </a:xfrm>
            <a:custGeom>
              <a:avLst/>
              <a:gdLst/>
              <a:ahLst/>
              <a:cxnLst/>
              <a:rect r="r" b="b" t="t" l="l"/>
              <a:pathLst>
                <a:path h="98159" w="98159">
                  <a:moveTo>
                    <a:pt x="0" y="0"/>
                  </a:moveTo>
                  <a:lnTo>
                    <a:pt x="98159" y="0"/>
                  </a:lnTo>
                  <a:lnTo>
                    <a:pt x="98159" y="98159"/>
                  </a:lnTo>
                  <a:lnTo>
                    <a:pt x="0" y="9815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>
                <a:extLst>
                  <a:ext uri="{96DAC541-7B7A-43D3-8B79-37D633B846F1}">
                    <asvg:svgBlip xmlns:asvg="http://schemas.microsoft.com/office/drawing/2016/SVG/main" r:embed="rId14"/>
                  </a:ext>
                </a:extLst>
              </a:blip>
              <a:stretch>
                <a:fillRect l="0" t="0" r="0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778169" y="3003501"/>
            <a:ext cx="9261590" cy="17263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47"/>
              </a:lnSpc>
              <a:spcBef>
                <a:spcPct val="0"/>
              </a:spcBef>
            </a:pPr>
            <a:r>
              <a:rPr lang="en-US" sz="10034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DS5020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78169" y="4277850"/>
            <a:ext cx="9261590" cy="17176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999"/>
              </a:lnSpc>
              <a:spcBef>
                <a:spcPct val="0"/>
              </a:spcBef>
            </a:pPr>
            <a:r>
              <a:rPr lang="en-US" sz="9999" b="true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Mini </a:t>
            </a:r>
            <a:r>
              <a:rPr lang="en-US" b="true" sz="9999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Proj</a:t>
            </a:r>
            <a:r>
              <a:rPr lang="en-US" b="true" sz="9999">
                <a:solidFill>
                  <a:srgbClr val="5CE1E6"/>
                </a:solidFill>
                <a:latin typeface="Raleway Bold"/>
                <a:ea typeface="Raleway Bold"/>
                <a:cs typeface="Raleway Bold"/>
                <a:sym typeface="Raleway Bold"/>
              </a:rPr>
              <a:t>ect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778169" y="6063056"/>
            <a:ext cx="6518390" cy="1235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sz="3500" b="true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Cus</a:t>
            </a:r>
            <a:r>
              <a:rPr lang="en-US" b="true" sz="35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tomer Analysis</a:t>
            </a:r>
          </a:p>
          <a:p>
            <a:pPr algn="l">
              <a:lnSpc>
                <a:spcPts val="4900"/>
              </a:lnSpc>
              <a:spcBef>
                <a:spcPct val="0"/>
              </a:spcBef>
            </a:pPr>
            <a:r>
              <a:rPr lang="en-US" b="true" sz="3500">
                <a:solidFill>
                  <a:srgbClr val="FFFFFF"/>
                </a:solidFill>
                <a:latin typeface="Raleway Bold"/>
                <a:ea typeface="Raleway Bold"/>
                <a:cs typeface="Raleway Bold"/>
                <a:sym typeface="Raleway Bold"/>
              </a:rPr>
              <a:t>PCA or SVD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778169" y="7402906"/>
            <a:ext cx="651839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sz="1900" spc="95">
                <a:solidFill>
                  <a:srgbClr val="FFFFFF"/>
                </a:solidFill>
                <a:latin typeface="Raleway"/>
                <a:ea typeface="Raleway"/>
                <a:cs typeface="Raleway"/>
                <a:sym typeface="Raleway"/>
              </a:rPr>
              <a:t>Aditya Vishwanath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371600"/>
            <a:chOff x="0" y="0"/>
            <a:chExt cx="219456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FFFFFF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Better suggestions, built in seconds, stored in MB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456183"/>
            <a:ext cx="5146043" cy="5511803"/>
            <a:chOff x="0" y="0"/>
            <a:chExt cx="6861391" cy="73490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861428" cy="7349109"/>
            </a:xfrm>
            <a:custGeom>
              <a:avLst/>
              <a:gdLst/>
              <a:ahLst/>
              <a:cxnLst/>
              <a:rect r="r" b="b" t="t" l="l"/>
              <a:pathLst>
                <a:path h="7349109" w="6861428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6567297" y="0"/>
                  </a:lnTo>
                  <a:cubicBezTo>
                    <a:pt x="6729730" y="0"/>
                    <a:pt x="6861428" y="131699"/>
                    <a:pt x="6861428" y="294132"/>
                  </a:cubicBezTo>
                  <a:lnTo>
                    <a:pt x="6861428" y="7054977"/>
                  </a:lnTo>
                  <a:cubicBezTo>
                    <a:pt x="6861428" y="7217410"/>
                    <a:pt x="6729730" y="7349109"/>
                    <a:pt x="6567297" y="7349109"/>
                  </a:cubicBezTo>
                  <a:lnTo>
                    <a:pt x="294132" y="7349109"/>
                  </a:lnTo>
                  <a:cubicBezTo>
                    <a:pt x="131699" y="7349109"/>
                    <a:pt x="0" y="7217410"/>
                    <a:pt x="0" y="70549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C">
                    <a:alpha val="100000"/>
                  </a:srgbClr>
                </a:gs>
                <a:gs pos="100000">
                  <a:srgbClr val="31A6A4">
                    <a:alpha val="100000"/>
                  </a:srgbClr>
                </a:gs>
              </a:gsLst>
              <a:lin ang="5400000"/>
            </a:gra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371600" y="2834640"/>
            <a:ext cx="4206240" cy="1737360"/>
            <a:chOff x="0" y="0"/>
            <a:chExt cx="5608320" cy="23164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56083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94" t="0" r="-2994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5608320" cy="2326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>
                  <a:solidFill>
                    <a:srgbClr val="30A7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40%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371600" y="4572000"/>
            <a:ext cx="4206240" cy="731520"/>
            <a:chOff x="0" y="0"/>
            <a:chExt cx="5608320" cy="97536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5608320" cy="975360"/>
            </a:xfrm>
            <a:custGeom>
              <a:avLst/>
              <a:gdLst/>
              <a:ahLst/>
              <a:cxnLst/>
              <a:rect r="r" b="b" t="t" l="l"/>
              <a:pathLst>
                <a:path h="9753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57150"/>
              <a:ext cx="56083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5B22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vs 27%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371600" y="5328285"/>
            <a:ext cx="420624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of customers get a correct suggestion in their top 10, vs a best-seller list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70983" y="2456183"/>
            <a:ext cx="5146043" cy="5511803"/>
            <a:chOff x="0" y="0"/>
            <a:chExt cx="6861391" cy="734907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861428" cy="7349109"/>
            </a:xfrm>
            <a:custGeom>
              <a:avLst/>
              <a:gdLst/>
              <a:ahLst/>
              <a:cxnLst/>
              <a:rect r="r" b="b" t="t" l="l"/>
              <a:pathLst>
                <a:path h="7349109" w="6861428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6567297" y="0"/>
                  </a:lnTo>
                  <a:cubicBezTo>
                    <a:pt x="6729730" y="0"/>
                    <a:pt x="6861428" y="131699"/>
                    <a:pt x="6861428" y="294132"/>
                  </a:cubicBezTo>
                  <a:lnTo>
                    <a:pt x="6861428" y="7054977"/>
                  </a:lnTo>
                  <a:cubicBezTo>
                    <a:pt x="6861428" y="7217410"/>
                    <a:pt x="6729730" y="7349109"/>
                    <a:pt x="6567297" y="7349109"/>
                  </a:cubicBezTo>
                  <a:lnTo>
                    <a:pt x="294132" y="7349109"/>
                  </a:lnTo>
                  <a:cubicBezTo>
                    <a:pt x="131699" y="7349109"/>
                    <a:pt x="0" y="7217410"/>
                    <a:pt x="0" y="70549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C">
                    <a:alpha val="100000"/>
                  </a:srgbClr>
                </a:gs>
                <a:gs pos="100000">
                  <a:srgbClr val="31A6A4">
                    <a:alpha val="100000"/>
                  </a:srgbClr>
                </a:gs>
              </a:gsLst>
              <a:lin ang="5400000"/>
            </a:gra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7040880" y="2834640"/>
            <a:ext cx="4206240" cy="1737360"/>
            <a:chOff x="0" y="0"/>
            <a:chExt cx="5608320" cy="231648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083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94" t="0" r="-2994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5608320" cy="2326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>
                  <a:solidFill>
                    <a:srgbClr val="30A7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3.5 s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7040880" y="4572000"/>
            <a:ext cx="4206240" cy="731520"/>
            <a:chOff x="0" y="0"/>
            <a:chExt cx="5608320" cy="97536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5608320" cy="975360"/>
            </a:xfrm>
            <a:custGeom>
              <a:avLst/>
              <a:gdLst/>
              <a:ahLst/>
              <a:cxnLst/>
              <a:rect r="r" b="b" t="t" l="l"/>
              <a:pathLst>
                <a:path h="9753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57150"/>
              <a:ext cx="56083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5B22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full nightly job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7040880" y="5328285"/>
            <a:ext cx="420624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patterns + 'also bought' for 3,687 products + lists for 5,473 customers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240263" y="2456183"/>
            <a:ext cx="5146043" cy="5511803"/>
            <a:chOff x="0" y="0"/>
            <a:chExt cx="6861391" cy="734907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6861428" cy="7349109"/>
            </a:xfrm>
            <a:custGeom>
              <a:avLst/>
              <a:gdLst/>
              <a:ahLst/>
              <a:cxnLst/>
              <a:rect r="r" b="b" t="t" l="l"/>
              <a:pathLst>
                <a:path h="7349109" w="6861428">
                  <a:moveTo>
                    <a:pt x="0" y="294132"/>
                  </a:moveTo>
                  <a:cubicBezTo>
                    <a:pt x="0" y="131699"/>
                    <a:pt x="131699" y="0"/>
                    <a:pt x="294132" y="0"/>
                  </a:cubicBezTo>
                  <a:lnTo>
                    <a:pt x="6567297" y="0"/>
                  </a:lnTo>
                  <a:cubicBezTo>
                    <a:pt x="6729730" y="0"/>
                    <a:pt x="6861428" y="131699"/>
                    <a:pt x="6861428" y="294132"/>
                  </a:cubicBezTo>
                  <a:lnTo>
                    <a:pt x="6861428" y="7054977"/>
                  </a:lnTo>
                  <a:cubicBezTo>
                    <a:pt x="6861428" y="7217410"/>
                    <a:pt x="6729730" y="7349109"/>
                    <a:pt x="6567297" y="7349109"/>
                  </a:cubicBezTo>
                  <a:lnTo>
                    <a:pt x="294132" y="7349109"/>
                  </a:lnTo>
                  <a:cubicBezTo>
                    <a:pt x="131699" y="7349109"/>
                    <a:pt x="0" y="7217410"/>
                    <a:pt x="0" y="7054977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C">
                    <a:alpha val="100000"/>
                  </a:srgbClr>
                </a:gs>
                <a:gs pos="100000">
                  <a:srgbClr val="31A6A4">
                    <a:alpha val="100000"/>
                  </a:srgbClr>
                </a:gs>
              </a:gsLst>
              <a:lin ang="5400000"/>
            </a:gra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710160" y="2834640"/>
            <a:ext cx="4206240" cy="1737360"/>
            <a:chOff x="0" y="0"/>
            <a:chExt cx="5608320" cy="231648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5608320" cy="2316480"/>
            </a:xfrm>
            <a:custGeom>
              <a:avLst/>
              <a:gdLst/>
              <a:ahLst/>
              <a:cxnLst/>
              <a:rect r="r" b="b" t="t" l="l"/>
              <a:pathLst>
                <a:path h="231648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2316480"/>
                  </a:lnTo>
                  <a:lnTo>
                    <a:pt x="0" y="23164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2994" t="0" r="-2994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5608320" cy="2326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11519"/>
                </a:lnSpc>
              </a:pPr>
              <a:r>
                <a:rPr lang="en-US" b="true" sz="9600">
                  <a:solidFill>
                    <a:srgbClr val="30A7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3.7 MB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710160" y="4572000"/>
            <a:ext cx="4206240" cy="731520"/>
            <a:chOff x="0" y="0"/>
            <a:chExt cx="5608320" cy="97536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5608320" cy="975360"/>
            </a:xfrm>
            <a:custGeom>
              <a:avLst/>
              <a:gdLst/>
              <a:ahLst/>
              <a:cxnLst/>
              <a:rect r="r" b="b" t="t" l="l"/>
              <a:pathLst>
                <a:path h="975360" w="5608320">
                  <a:moveTo>
                    <a:pt x="0" y="0"/>
                  </a:moveTo>
                  <a:lnTo>
                    <a:pt x="5608320" y="0"/>
                  </a:lnTo>
                  <a:lnTo>
                    <a:pt x="560832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2038" r="0" b="-62038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57150"/>
              <a:ext cx="5608320" cy="103251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840"/>
                </a:lnSpc>
              </a:pPr>
              <a:r>
                <a:rPr lang="en-US" sz="3200" b="true">
                  <a:solidFill>
                    <a:srgbClr val="5B22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vs 161 MB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710160" y="5328285"/>
            <a:ext cx="4206240" cy="2261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sz="27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stored model compared with the full customer × product table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14400" y="8412480"/>
            <a:ext cx="16459200" cy="731520"/>
            <a:chOff x="0" y="0"/>
            <a:chExt cx="21945600" cy="97536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1945600" cy="975360"/>
            </a:xfrm>
            <a:custGeom>
              <a:avLst/>
              <a:gdLst/>
              <a:ahLst/>
              <a:cxnLst/>
              <a:rect r="r" b="b" t="t" l="l"/>
              <a:pathLst>
                <a:path h="97536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975360"/>
                  </a:lnTo>
                  <a:lnTo>
                    <a:pt x="0" y="97536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88413" r="0" b="-388413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21945600" cy="104203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 i="true">
                  <a:solidFill>
                    <a:srgbClr val="30A7A5"/>
                  </a:solidFill>
                  <a:latin typeface="Calibri (MS) Bold Italics"/>
                  <a:ea typeface="Calibri (MS) Bold Italics"/>
                  <a:cs typeface="Calibri (MS) Bold Italics"/>
                  <a:sym typeface="Calibri (MS) Bold Italics"/>
                </a:rPr>
                <a:t>Plus six named customer groups for marketing, with no customer IDs anywhere.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C8C8C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371600"/>
            <a:chOff x="0" y="0"/>
            <a:chExt cx="219456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F4ECF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From 1.07M invoice lines to a leak-free matrix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364743"/>
            <a:ext cx="3591563" cy="3683003"/>
            <a:chOff x="0" y="0"/>
            <a:chExt cx="4788751" cy="491067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788662" cy="4910582"/>
            </a:xfrm>
            <a:custGeom>
              <a:avLst/>
              <a:gdLst/>
              <a:ahLst/>
              <a:cxnLst/>
              <a:rect r="r" b="b" t="t" l="l"/>
              <a:pathLst>
                <a:path h="4910582" w="4788662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494022" y="0"/>
                  </a:lnTo>
                  <a:cubicBezTo>
                    <a:pt x="4656836" y="0"/>
                    <a:pt x="4788662" y="131953"/>
                    <a:pt x="4788662" y="294640"/>
                  </a:cubicBezTo>
                  <a:lnTo>
                    <a:pt x="4788662" y="4615942"/>
                  </a:lnTo>
                  <a:cubicBezTo>
                    <a:pt x="4788662" y="4778756"/>
                    <a:pt x="4656709" y="4910582"/>
                    <a:pt x="4494022" y="4910582"/>
                  </a:cubicBezTo>
                  <a:lnTo>
                    <a:pt x="294640" y="4910582"/>
                  </a:lnTo>
                  <a:cubicBezTo>
                    <a:pt x="131826" y="4910582"/>
                    <a:pt x="0" y="4778629"/>
                    <a:pt x="0" y="46159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C">
                    <a:alpha val="100000"/>
                  </a:srgbClr>
                </a:gs>
                <a:gs pos="100000">
                  <a:srgbClr val="31A6A4">
                    <a:alpha val="100000"/>
                  </a:srgbClr>
                </a:gs>
              </a:gsLst>
              <a:lin ang="5400000"/>
            </a:gra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133856" y="2596896"/>
            <a:ext cx="3127248" cy="1005840"/>
            <a:chOff x="0" y="0"/>
            <a:chExt cx="4169664" cy="134112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69664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0" r="0" b="-1058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66675"/>
              <a:ext cx="4169664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C2577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1,067,371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33856" y="3602736"/>
            <a:ext cx="3127248" cy="640080"/>
            <a:chOff x="0" y="0"/>
            <a:chExt cx="4169664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169664" cy="853440"/>
            </a:xfrm>
            <a:custGeom>
              <a:avLst/>
              <a:gdLst/>
              <a:ahLst/>
              <a:cxnLst/>
              <a:rect r="r" b="b" t="t" l="l"/>
              <a:pathLst>
                <a:path h="8534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98" r="0" b="-45198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4169664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5B22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</a:t>
              </a:r>
              <a:r>
                <a:rPr lang="en-US" sz="2799" b="true">
                  <a:solidFill>
                    <a:srgbClr val="5B22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aw lines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133856" y="4250055"/>
            <a:ext cx="312724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2</a:t>
            </a: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 Excel sheets, Dec 2009 – Dec 2011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4559303" y="3919223"/>
            <a:ext cx="519179" cy="574043"/>
            <a:chOff x="0" y="0"/>
            <a:chExt cx="692239" cy="765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692277" cy="765429"/>
            </a:xfrm>
            <a:custGeom>
              <a:avLst/>
              <a:gdLst/>
              <a:ahLst/>
              <a:cxnLst/>
              <a:rect r="r" b="b" t="t" l="l"/>
              <a:pathLst>
                <a:path h="765429" w="692277">
                  <a:moveTo>
                    <a:pt x="0" y="191389"/>
                  </a:moveTo>
                  <a:lnTo>
                    <a:pt x="346075" y="191389"/>
                  </a:lnTo>
                  <a:lnTo>
                    <a:pt x="346075" y="0"/>
                  </a:lnTo>
                  <a:lnTo>
                    <a:pt x="692277" y="382651"/>
                  </a:lnTo>
                  <a:lnTo>
                    <a:pt x="346075" y="765429"/>
                  </a:lnTo>
                  <a:lnTo>
                    <a:pt x="346075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D9A441"/>
            </a:solidFill>
            <a:ln w="25400" cap="sq">
              <a:solidFill>
                <a:srgbClr val="D9A44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5144519" y="2364743"/>
            <a:ext cx="3591563" cy="3683003"/>
            <a:chOff x="0" y="0"/>
            <a:chExt cx="4788751" cy="491067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4788662" cy="4910582"/>
            </a:xfrm>
            <a:custGeom>
              <a:avLst/>
              <a:gdLst/>
              <a:ahLst/>
              <a:cxnLst/>
              <a:rect r="r" b="b" t="t" l="l"/>
              <a:pathLst>
                <a:path h="4910582" w="4788662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494022" y="0"/>
                  </a:lnTo>
                  <a:cubicBezTo>
                    <a:pt x="4656836" y="0"/>
                    <a:pt x="4788662" y="131953"/>
                    <a:pt x="4788662" y="294640"/>
                  </a:cubicBezTo>
                  <a:lnTo>
                    <a:pt x="4788662" y="4615942"/>
                  </a:lnTo>
                  <a:cubicBezTo>
                    <a:pt x="4788662" y="4778756"/>
                    <a:pt x="4656709" y="4910582"/>
                    <a:pt x="4494022" y="4910582"/>
                  </a:cubicBezTo>
                  <a:lnTo>
                    <a:pt x="294640" y="4910582"/>
                  </a:lnTo>
                  <a:cubicBezTo>
                    <a:pt x="131826" y="4910582"/>
                    <a:pt x="0" y="4778629"/>
                    <a:pt x="0" y="46159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C">
                    <a:alpha val="100000"/>
                  </a:srgbClr>
                </a:gs>
                <a:gs pos="100000">
                  <a:srgbClr val="31A6A4">
                    <a:alpha val="100000"/>
                  </a:srgbClr>
                </a:gs>
              </a:gsLst>
              <a:lin ang="5400000"/>
            </a:gra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18" id="18"/>
          <p:cNvGrpSpPr/>
          <p:nvPr/>
        </p:nvGrpSpPr>
        <p:grpSpPr>
          <a:xfrm rot="0">
            <a:off x="5376672" y="2596896"/>
            <a:ext cx="3127248" cy="1005840"/>
            <a:chOff x="0" y="0"/>
            <a:chExt cx="4169664" cy="134112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169664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0" r="0" b="-10580"/>
              </a:stretch>
            </a:blip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66675"/>
              <a:ext cx="4169664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C2577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776,577</a:t>
              </a:r>
            </a:p>
          </p:txBody>
        </p:sp>
      </p:grpSp>
      <p:grpSp>
        <p:nvGrpSpPr>
          <p:cNvPr name="Group 21" id="21"/>
          <p:cNvGrpSpPr/>
          <p:nvPr/>
        </p:nvGrpSpPr>
        <p:grpSpPr>
          <a:xfrm rot="0">
            <a:off x="5376672" y="3602736"/>
            <a:ext cx="3127248" cy="640080"/>
            <a:chOff x="0" y="0"/>
            <a:chExt cx="4169664" cy="85344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4169664" cy="853440"/>
            </a:xfrm>
            <a:custGeom>
              <a:avLst/>
              <a:gdLst/>
              <a:ahLst/>
              <a:cxnLst/>
              <a:rect r="r" b="b" t="t" l="l"/>
              <a:pathLst>
                <a:path h="8534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98" r="0" b="-45198"/>
              </a:stretch>
            </a:blip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66675"/>
              <a:ext cx="4169664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5B22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</a:t>
              </a:r>
              <a:r>
                <a:rPr lang="en-US" sz="2799" b="true">
                  <a:solidFill>
                    <a:srgbClr val="5B22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lean lines</a:t>
              </a: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5376672" y="4158620"/>
            <a:ext cx="3127248" cy="1714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</a:t>
            </a: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emoved: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Cancellation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Guests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Fees</a:t>
            </a:r>
          </a:p>
          <a:p>
            <a:pPr algn="l" marL="474979" indent="-237490" lvl="1">
              <a:lnSpc>
                <a:spcPts val="2639"/>
              </a:lnSpc>
              <a:buFont typeface="Arial"/>
              <a:buChar char="•"/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Duplicates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8802119" y="3919223"/>
            <a:ext cx="519179" cy="574043"/>
            <a:chOff x="0" y="0"/>
            <a:chExt cx="692239" cy="7653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692277" cy="765429"/>
            </a:xfrm>
            <a:custGeom>
              <a:avLst/>
              <a:gdLst/>
              <a:ahLst/>
              <a:cxnLst/>
              <a:rect r="r" b="b" t="t" l="l"/>
              <a:pathLst>
                <a:path h="765429" w="692277">
                  <a:moveTo>
                    <a:pt x="0" y="191389"/>
                  </a:moveTo>
                  <a:lnTo>
                    <a:pt x="346075" y="191389"/>
                  </a:lnTo>
                  <a:lnTo>
                    <a:pt x="346075" y="0"/>
                  </a:lnTo>
                  <a:lnTo>
                    <a:pt x="692277" y="382651"/>
                  </a:lnTo>
                  <a:lnTo>
                    <a:pt x="346075" y="765429"/>
                  </a:lnTo>
                  <a:lnTo>
                    <a:pt x="346075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D9A441"/>
            </a:solidFill>
            <a:ln w="25400" cap="sq">
              <a:solidFill>
                <a:srgbClr val="D9A441"/>
              </a:solidFill>
              <a:prstDash val="solid"/>
              <a:miter/>
            </a:ln>
          </p:spPr>
        </p:sp>
      </p:grpSp>
      <p:grpSp>
        <p:nvGrpSpPr>
          <p:cNvPr name="Group 27" id="27"/>
          <p:cNvGrpSpPr/>
          <p:nvPr/>
        </p:nvGrpSpPr>
        <p:grpSpPr>
          <a:xfrm rot="0">
            <a:off x="9387335" y="2364743"/>
            <a:ext cx="3591563" cy="3683003"/>
            <a:chOff x="0" y="0"/>
            <a:chExt cx="4788751" cy="4910671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4788662" cy="4910582"/>
            </a:xfrm>
            <a:custGeom>
              <a:avLst/>
              <a:gdLst/>
              <a:ahLst/>
              <a:cxnLst/>
              <a:rect r="r" b="b" t="t" l="l"/>
              <a:pathLst>
                <a:path h="4910582" w="4788662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494022" y="0"/>
                  </a:lnTo>
                  <a:cubicBezTo>
                    <a:pt x="4656836" y="0"/>
                    <a:pt x="4788662" y="131953"/>
                    <a:pt x="4788662" y="294640"/>
                  </a:cubicBezTo>
                  <a:lnTo>
                    <a:pt x="4788662" y="4615942"/>
                  </a:lnTo>
                  <a:cubicBezTo>
                    <a:pt x="4788662" y="4778756"/>
                    <a:pt x="4656709" y="4910582"/>
                    <a:pt x="4494022" y="4910582"/>
                  </a:cubicBezTo>
                  <a:lnTo>
                    <a:pt x="294640" y="4910582"/>
                  </a:lnTo>
                  <a:cubicBezTo>
                    <a:pt x="131826" y="4910582"/>
                    <a:pt x="0" y="4778629"/>
                    <a:pt x="0" y="4615942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C">
                    <a:alpha val="100000"/>
                  </a:srgbClr>
                </a:gs>
                <a:gs pos="100000">
                  <a:srgbClr val="31A6A4">
                    <a:alpha val="100000"/>
                  </a:srgbClr>
                </a:gs>
              </a:gsLst>
              <a:lin ang="5400000"/>
            </a:gra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29" id="29"/>
          <p:cNvGrpSpPr/>
          <p:nvPr/>
        </p:nvGrpSpPr>
        <p:grpSpPr>
          <a:xfrm rot="0">
            <a:off x="9619488" y="2596896"/>
            <a:ext cx="3127248" cy="1005840"/>
            <a:chOff x="0" y="0"/>
            <a:chExt cx="4169664" cy="1341120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169664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0" r="0" b="-10580"/>
              </a:stretch>
            </a:blip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66675"/>
              <a:ext cx="4169664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sz="3600" b="true">
                  <a:solidFill>
                    <a:srgbClr val="C2577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9 Oct 2011</a:t>
              </a: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9619488" y="3602736"/>
            <a:ext cx="3127248" cy="640080"/>
            <a:chOff x="0" y="0"/>
            <a:chExt cx="4169664" cy="853440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169664" cy="853440"/>
            </a:xfrm>
            <a:custGeom>
              <a:avLst/>
              <a:gdLst/>
              <a:ahLst/>
              <a:cxnLst/>
              <a:rect r="r" b="b" t="t" l="l"/>
              <a:pathLst>
                <a:path h="8534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98" r="0" b="-45198"/>
              </a:stretch>
            </a:blip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66675"/>
              <a:ext cx="4169664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sz="2799" b="true">
                  <a:solidFill>
                    <a:srgbClr val="5B22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T</a:t>
              </a:r>
              <a:r>
                <a:rPr lang="en-US" sz="2799" b="true">
                  <a:solidFill>
                    <a:srgbClr val="5B2245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ime split</a:t>
              </a: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619488" y="4250055"/>
            <a:ext cx="3127248" cy="7143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L</a:t>
            </a: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ast 2 months held out; model never sees them</a:t>
            </a:r>
          </a:p>
        </p:txBody>
      </p:sp>
      <p:grpSp>
        <p:nvGrpSpPr>
          <p:cNvPr name="Group 36" id="36"/>
          <p:cNvGrpSpPr/>
          <p:nvPr/>
        </p:nvGrpSpPr>
        <p:grpSpPr>
          <a:xfrm rot="0">
            <a:off x="13044935" y="3919223"/>
            <a:ext cx="519179" cy="574043"/>
            <a:chOff x="0" y="0"/>
            <a:chExt cx="692239" cy="765391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692277" cy="765429"/>
            </a:xfrm>
            <a:custGeom>
              <a:avLst/>
              <a:gdLst/>
              <a:ahLst/>
              <a:cxnLst/>
              <a:rect r="r" b="b" t="t" l="l"/>
              <a:pathLst>
                <a:path h="765429" w="692277">
                  <a:moveTo>
                    <a:pt x="0" y="191389"/>
                  </a:moveTo>
                  <a:lnTo>
                    <a:pt x="346075" y="191389"/>
                  </a:lnTo>
                  <a:lnTo>
                    <a:pt x="346075" y="0"/>
                  </a:lnTo>
                  <a:lnTo>
                    <a:pt x="692277" y="382651"/>
                  </a:lnTo>
                  <a:lnTo>
                    <a:pt x="346075" y="765429"/>
                  </a:lnTo>
                  <a:lnTo>
                    <a:pt x="346075" y="574040"/>
                  </a:lnTo>
                  <a:lnTo>
                    <a:pt x="0" y="574040"/>
                  </a:lnTo>
                  <a:close/>
                </a:path>
              </a:pathLst>
            </a:custGeom>
            <a:solidFill>
              <a:srgbClr val="D9A441"/>
            </a:solidFill>
            <a:ln w="25400" cap="sq">
              <a:solidFill>
                <a:srgbClr val="D9A441"/>
              </a:solidFill>
              <a:prstDash val="solid"/>
              <a:miter/>
            </a:ln>
          </p:spPr>
        </p:sp>
      </p:grpSp>
      <p:grpSp>
        <p:nvGrpSpPr>
          <p:cNvPr name="Group 38" id="38"/>
          <p:cNvGrpSpPr/>
          <p:nvPr/>
        </p:nvGrpSpPr>
        <p:grpSpPr>
          <a:xfrm rot="0">
            <a:off x="13630151" y="2364743"/>
            <a:ext cx="3591563" cy="3683003"/>
            <a:chOff x="0" y="0"/>
            <a:chExt cx="4788751" cy="4910671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4788662" cy="4910582"/>
            </a:xfrm>
            <a:custGeom>
              <a:avLst/>
              <a:gdLst/>
              <a:ahLst/>
              <a:cxnLst/>
              <a:rect r="r" b="b" t="t" l="l"/>
              <a:pathLst>
                <a:path h="4910582" w="4788662">
                  <a:moveTo>
                    <a:pt x="0" y="294640"/>
                  </a:moveTo>
                  <a:cubicBezTo>
                    <a:pt x="0" y="131953"/>
                    <a:pt x="131953" y="0"/>
                    <a:pt x="294640" y="0"/>
                  </a:cubicBezTo>
                  <a:lnTo>
                    <a:pt x="4494022" y="0"/>
                  </a:lnTo>
                  <a:cubicBezTo>
                    <a:pt x="4656836" y="0"/>
                    <a:pt x="4788662" y="131953"/>
                    <a:pt x="4788662" y="294640"/>
                  </a:cubicBezTo>
                  <a:lnTo>
                    <a:pt x="4788662" y="4615942"/>
                  </a:lnTo>
                  <a:cubicBezTo>
                    <a:pt x="4788662" y="4778756"/>
                    <a:pt x="4656709" y="4910582"/>
                    <a:pt x="4494022" y="4910582"/>
                  </a:cubicBezTo>
                  <a:lnTo>
                    <a:pt x="294640" y="4910582"/>
                  </a:lnTo>
                  <a:cubicBezTo>
                    <a:pt x="131826" y="4910582"/>
                    <a:pt x="0" y="4778629"/>
                    <a:pt x="0" y="4615942"/>
                  </a:cubicBezTo>
                  <a:close/>
                </a:path>
              </a:pathLst>
            </a:custGeom>
            <a:solidFill>
              <a:srgbClr val="5CE1E6"/>
            </a:solidFill>
            <a:ln w="25400" cap="sq">
              <a:solidFill>
                <a:srgbClr val="5B2245"/>
              </a:solidFill>
              <a:prstDash val="solid"/>
              <a:miter/>
            </a:ln>
          </p:spPr>
        </p:sp>
      </p:grpSp>
      <p:grpSp>
        <p:nvGrpSpPr>
          <p:cNvPr name="Group 40" id="40"/>
          <p:cNvGrpSpPr/>
          <p:nvPr/>
        </p:nvGrpSpPr>
        <p:grpSpPr>
          <a:xfrm rot="0">
            <a:off x="13862304" y="2596896"/>
            <a:ext cx="3127248" cy="1005840"/>
            <a:chOff x="0" y="0"/>
            <a:chExt cx="4169664" cy="1341120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4169664" cy="1341120"/>
            </a:xfrm>
            <a:custGeom>
              <a:avLst/>
              <a:gdLst/>
              <a:ahLst/>
              <a:cxnLst/>
              <a:rect r="r" b="b" t="t" l="l"/>
              <a:pathLst>
                <a:path h="134112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1341120"/>
                  </a:lnTo>
                  <a:lnTo>
                    <a:pt x="0" y="134112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0580" r="0" b="-10580"/>
              </a:stretch>
            </a:blipFill>
          </p:spPr>
        </p:sp>
        <p:sp>
          <p:nvSpPr>
            <p:cNvPr name="TextBox 42" id="42"/>
            <p:cNvSpPr txBox="true"/>
            <p:nvPr/>
          </p:nvSpPr>
          <p:spPr>
            <a:xfrm>
              <a:off x="0" y="-66675"/>
              <a:ext cx="4169664" cy="140779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4320"/>
                </a:lnSpc>
              </a:pPr>
              <a:r>
                <a:rPr lang="en-US" b="true" sz="360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5,473 × 3,687</a:t>
              </a:r>
            </a:p>
          </p:txBody>
        </p:sp>
      </p:grpSp>
      <p:grpSp>
        <p:nvGrpSpPr>
          <p:cNvPr name="Group 43" id="43"/>
          <p:cNvGrpSpPr/>
          <p:nvPr/>
        </p:nvGrpSpPr>
        <p:grpSpPr>
          <a:xfrm rot="0">
            <a:off x="13862304" y="3602736"/>
            <a:ext cx="3127248" cy="640080"/>
            <a:chOff x="0" y="0"/>
            <a:chExt cx="4169664" cy="85344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4169664" cy="853440"/>
            </a:xfrm>
            <a:custGeom>
              <a:avLst/>
              <a:gdLst/>
              <a:ahLst/>
              <a:cxnLst/>
              <a:rect r="r" b="b" t="t" l="l"/>
              <a:pathLst>
                <a:path h="853440" w="4169664">
                  <a:moveTo>
                    <a:pt x="0" y="0"/>
                  </a:moveTo>
                  <a:lnTo>
                    <a:pt x="4169664" y="0"/>
                  </a:lnTo>
                  <a:lnTo>
                    <a:pt x="4169664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5198" r="0" b="-45198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66675"/>
              <a:ext cx="4169664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sparse matrix</a:t>
              </a:r>
            </a:p>
          </p:txBody>
        </p:sp>
      </p:grpSp>
      <p:sp>
        <p:nvSpPr>
          <p:cNvPr name="TextBox 46" id="46"/>
          <p:cNvSpPr txBox="true"/>
          <p:nvPr/>
        </p:nvSpPr>
        <p:spPr>
          <a:xfrm rot="0">
            <a:off x="13862304" y="4250055"/>
            <a:ext cx="3127248" cy="1602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97.95% empty · 5 MB sparse vs 161 MB dense</a:t>
            </a:r>
          </a:p>
        </p:txBody>
      </p:sp>
      <p:grpSp>
        <p:nvGrpSpPr>
          <p:cNvPr name="Group 47" id="47"/>
          <p:cNvGrpSpPr/>
          <p:nvPr/>
        </p:nvGrpSpPr>
        <p:grpSpPr>
          <a:xfrm rot="0">
            <a:off x="901703" y="6570983"/>
            <a:ext cx="7980683" cy="2494283"/>
            <a:chOff x="0" y="0"/>
            <a:chExt cx="10640911" cy="3325711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10640950" cy="3325749"/>
            </a:xfrm>
            <a:custGeom>
              <a:avLst/>
              <a:gdLst/>
              <a:ahLst/>
              <a:cxnLst/>
              <a:rect r="r" b="b" t="t" l="l"/>
              <a:pathLst>
                <a:path h="3325749" w="10640950">
                  <a:moveTo>
                    <a:pt x="0" y="295656"/>
                  </a:moveTo>
                  <a:cubicBezTo>
                    <a:pt x="0" y="132334"/>
                    <a:pt x="132334" y="0"/>
                    <a:pt x="295656" y="0"/>
                  </a:cubicBezTo>
                  <a:lnTo>
                    <a:pt x="10345293" y="0"/>
                  </a:lnTo>
                  <a:cubicBezTo>
                    <a:pt x="10508615" y="0"/>
                    <a:pt x="10640950" y="132334"/>
                    <a:pt x="10640950" y="295656"/>
                  </a:cubicBezTo>
                  <a:lnTo>
                    <a:pt x="10640950" y="3030093"/>
                  </a:lnTo>
                  <a:cubicBezTo>
                    <a:pt x="10640950" y="3193415"/>
                    <a:pt x="10508615" y="3325749"/>
                    <a:pt x="10345293" y="3325749"/>
                  </a:cubicBezTo>
                  <a:lnTo>
                    <a:pt x="295656" y="3325749"/>
                  </a:lnTo>
                  <a:cubicBezTo>
                    <a:pt x="132334" y="3325749"/>
                    <a:pt x="0" y="3193415"/>
                    <a:pt x="0" y="3030093"/>
                  </a:cubicBezTo>
                  <a:close/>
                </a:path>
              </a:pathLst>
            </a:custGeom>
            <a:solidFill>
              <a:srgbClr val="FFFFFF"/>
            </a:soli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sp>
        <p:nvSpPr>
          <p:cNvPr name="TextBox 49" id="49"/>
          <p:cNvSpPr txBox="true"/>
          <p:nvPr/>
        </p:nvSpPr>
        <p:spPr>
          <a:xfrm rot="0">
            <a:off x="1280160" y="6709410"/>
            <a:ext cx="7223760" cy="216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5B22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 hidden data issue I caught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'47503J' and '47503J ' (trailing space) were stored as two products. Stripping spaces merged them and stopped real rows being dropped.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9405623" y="6570983"/>
            <a:ext cx="7980683" cy="2494283"/>
            <a:chOff x="0" y="0"/>
            <a:chExt cx="10640911" cy="332571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10640950" cy="3325749"/>
            </a:xfrm>
            <a:custGeom>
              <a:avLst/>
              <a:gdLst/>
              <a:ahLst/>
              <a:cxnLst/>
              <a:rect r="r" b="b" t="t" l="l"/>
              <a:pathLst>
                <a:path h="3325749" w="10640950">
                  <a:moveTo>
                    <a:pt x="0" y="295656"/>
                  </a:moveTo>
                  <a:cubicBezTo>
                    <a:pt x="0" y="132334"/>
                    <a:pt x="132334" y="0"/>
                    <a:pt x="295656" y="0"/>
                  </a:cubicBezTo>
                  <a:lnTo>
                    <a:pt x="10345293" y="0"/>
                  </a:lnTo>
                  <a:cubicBezTo>
                    <a:pt x="10508615" y="0"/>
                    <a:pt x="10640950" y="132334"/>
                    <a:pt x="10640950" y="295656"/>
                  </a:cubicBezTo>
                  <a:lnTo>
                    <a:pt x="10640950" y="3030093"/>
                  </a:lnTo>
                  <a:cubicBezTo>
                    <a:pt x="10640950" y="3193415"/>
                    <a:pt x="10508615" y="3325749"/>
                    <a:pt x="10345293" y="3325749"/>
                  </a:cubicBezTo>
                  <a:lnTo>
                    <a:pt x="295656" y="3325749"/>
                  </a:lnTo>
                  <a:cubicBezTo>
                    <a:pt x="132334" y="3325749"/>
                    <a:pt x="0" y="3193415"/>
                    <a:pt x="0" y="3030093"/>
                  </a:cubicBezTo>
                  <a:close/>
                </a:path>
              </a:pathLst>
            </a:custGeom>
            <a:solidFill>
              <a:srgbClr val="F4ECF1"/>
            </a:soli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sp>
        <p:nvSpPr>
          <p:cNvPr name="TextBox 52" id="52"/>
          <p:cNvSpPr txBox="true"/>
          <p:nvPr/>
        </p:nvSpPr>
        <p:spPr>
          <a:xfrm rot="0">
            <a:off x="9784080" y="6709410"/>
            <a:ext cx="7223760" cy="2160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5B22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Reproducible in one command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build_matrix.py rebuilds everything from the raw file, and its matrix is identical to the notebook's. Every decision is in the decision log.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C8C8C"/>
                </a:solidFill>
                <a:latin typeface="Calibri (MS)"/>
                <a:ea typeface="Calibri (MS)"/>
                <a:cs typeface="Calibri (MS)"/>
                <a:sym typeface="Calibri (MS)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548640"/>
            <a:ext cx="16459200" cy="1371600"/>
            <a:chOff x="0" y="0"/>
            <a:chExt cx="21945600" cy="1828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1828800"/>
            </a:xfrm>
            <a:custGeom>
              <a:avLst/>
              <a:gdLst/>
              <a:ahLst/>
              <a:cxnLst/>
              <a:rect r="r" b="b" t="t" l="l"/>
              <a:pathLst>
                <a:path h="182880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828800"/>
                  </a:lnTo>
                  <a:lnTo>
                    <a:pt x="0" y="18288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183820" r="0" b="-183820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18383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F4ECF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PCA vs SVD: a tie, so I chose the faster one</a:t>
              </a:r>
            </a:p>
          </p:txBody>
        </p:sp>
      </p:grpSp>
      <p:graphicFrame>
        <p:nvGraphicFramePr>
          <p:cNvPr name="Table 5" id="5"/>
          <p:cNvGraphicFramePr>
            <a:graphicFrameLocks noGrp="true"/>
          </p:cNvGraphicFramePr>
          <p:nvPr/>
        </p:nvGraphicFramePr>
        <p:xfrm>
          <a:off x="914400" y="2377440"/>
          <a:ext cx="10185400" cy="5181600"/>
        </p:xfrm>
        <a:graphic>
          <a:graphicData uri="http://schemas.openxmlformats.org/drawingml/2006/table">
            <a:tbl>
              <a:tblPr/>
              <a:tblGrid>
                <a:gridCol w="4177468"/>
                <a:gridCol w="3003966"/>
                <a:gridCol w="3003966"/>
              </a:tblGrid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Measure (k = 50)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7A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PCA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7A5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 b="true">
                          <a:solidFill>
                            <a:srgbClr val="FFFFFF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Truncated SVD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0A7A5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Hit rate at 10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40.4%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40.0%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Fit time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3.3 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111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1.1 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Works on the sparse table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Only with special solvers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111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Yes, natively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Needs the full 161 MB table to score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Yes (centred data)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b="true" sz="2400">
                          <a:solidFill>
                            <a:srgbClr val="011149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No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863600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Component 1 means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Buying volume (r = 0.98)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2879"/>
                        </a:lnSpc>
                        <a:defRPr/>
                      </a:pPr>
                      <a:r>
                        <a:rPr lang="en-US" sz="2400">
                          <a:solidFill>
                            <a:srgbClr val="2B2B2B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Buying volume (r = 0.98)</a:t>
                      </a:r>
                      <a:endParaRPr lang="en-US" sz="1100"/>
                    </a:p>
                  </a:txBody>
                  <a:tcPr marL="91440" marR="91440" marT="91440" marB="91440" anchor="ctr">
                    <a:lnL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6350">
                      <a:solidFill>
                        <a:srgbClr val="D9CCD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name="Group 6" id="6"/>
          <p:cNvGrpSpPr/>
          <p:nvPr/>
        </p:nvGrpSpPr>
        <p:grpSpPr>
          <a:xfrm rot="0">
            <a:off x="11783063" y="2364743"/>
            <a:ext cx="5603243" cy="4505963"/>
            <a:chOff x="0" y="0"/>
            <a:chExt cx="7470991" cy="600795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471028" cy="6007989"/>
            </a:xfrm>
            <a:custGeom>
              <a:avLst/>
              <a:gdLst/>
              <a:ahLst/>
              <a:cxnLst/>
              <a:rect r="r" b="b" t="t" l="l"/>
              <a:pathLst>
                <a:path h="6007989" w="7471028">
                  <a:moveTo>
                    <a:pt x="0" y="294259"/>
                  </a:moveTo>
                  <a:cubicBezTo>
                    <a:pt x="0" y="131699"/>
                    <a:pt x="131699" y="0"/>
                    <a:pt x="294259" y="0"/>
                  </a:cubicBezTo>
                  <a:lnTo>
                    <a:pt x="7176770" y="0"/>
                  </a:lnTo>
                  <a:cubicBezTo>
                    <a:pt x="7339330" y="0"/>
                    <a:pt x="7471028" y="131699"/>
                    <a:pt x="7471028" y="294259"/>
                  </a:cubicBezTo>
                  <a:lnTo>
                    <a:pt x="7471028" y="5713730"/>
                  </a:lnTo>
                  <a:cubicBezTo>
                    <a:pt x="7471028" y="5876290"/>
                    <a:pt x="7339330" y="6007989"/>
                    <a:pt x="7176770" y="6007989"/>
                  </a:cubicBezTo>
                  <a:lnTo>
                    <a:pt x="294259" y="6007989"/>
                  </a:lnTo>
                  <a:cubicBezTo>
                    <a:pt x="131699" y="6007989"/>
                    <a:pt x="0" y="5876163"/>
                    <a:pt x="0" y="571373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FFFCFC">
                    <a:alpha val="100000"/>
                  </a:srgbClr>
                </a:gs>
                <a:gs pos="100000">
                  <a:srgbClr val="31A6A4">
                    <a:alpha val="100000"/>
                  </a:srgbClr>
                </a:gs>
              </a:gsLst>
              <a:lin ang="5400000"/>
            </a:gra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sp>
        <p:nvSpPr>
          <p:cNvPr name="TextBox 8" id="8"/>
          <p:cNvSpPr txBox="true"/>
          <p:nvPr/>
        </p:nvSpPr>
        <p:spPr>
          <a:xfrm rot="0">
            <a:off x="12161520" y="2594610"/>
            <a:ext cx="4846320" cy="3362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5B22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Why it's a tie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In purchase data, the biggest way any customer differs from the average is buying more or less. So centring (PCA) finds the same first pattern as SVD.</a:t>
            </a:r>
          </a:p>
          <a:p>
            <a:pPr algn="l">
              <a:lnSpc>
                <a:spcPts val="1439"/>
              </a:lnSpc>
            </a:pPr>
            <a:r>
              <a:rPr lang="en-US" sz="12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011149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SVD wins on speed and on staying small.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C8C8C"/>
                </a:solidFill>
                <a:latin typeface="Calibri (MS)"/>
                <a:ea typeface="Calibri (MS)"/>
                <a:cs typeface="Calibri (MS)"/>
                <a:sym typeface="Calibri (MS)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693028"/>
            <a:ext cx="16459200" cy="3815580"/>
            <a:chOff x="0" y="0"/>
            <a:chExt cx="21945600" cy="50874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5087439"/>
            </a:xfrm>
            <a:custGeom>
              <a:avLst/>
              <a:gdLst/>
              <a:ahLst/>
              <a:cxnLst/>
              <a:rect r="r" b="b" t="t" l="l"/>
              <a:pathLst>
                <a:path h="508743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7439"/>
                  </a:lnTo>
                  <a:lnTo>
                    <a:pt x="0" y="50874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78" r="0" b="-20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5096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011149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Cosine lost to best sellers; Dot product won</a:t>
              </a:r>
            </a:p>
          </p:txBody>
        </p:sp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-73152" y="1298448"/>
            <a:ext cx="11850624" cy="8924544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 rot="0">
            <a:off x="11325863" y="2547623"/>
            <a:ext cx="793499" cy="793499"/>
            <a:chOff x="0" y="0"/>
            <a:chExt cx="1057999" cy="105799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011149"/>
            </a:solidFill>
            <a:ln w="25400" cap="sq">
              <a:solidFill>
                <a:srgbClr val="C2577F"/>
              </a:solidFill>
              <a:prstDash val="solid"/>
              <a:miter/>
            </a:ln>
          </p:spPr>
        </p:sp>
      </p:grpSp>
      <p:grpSp>
        <p:nvGrpSpPr>
          <p:cNvPr name="Group 8" id="8"/>
          <p:cNvGrpSpPr/>
          <p:nvPr/>
        </p:nvGrpSpPr>
        <p:grpSpPr>
          <a:xfrm rot="0">
            <a:off x="11338560" y="2560320"/>
            <a:ext cx="768096" cy="768096"/>
            <a:chOff x="0" y="0"/>
            <a:chExt cx="1024128" cy="1024128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1</a:t>
              </a: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2435840" y="2411730"/>
            <a:ext cx="4937760" cy="206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5B22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Cosine ignores popularity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A niche item bought by 12 shops counted as much as a hit bought by 2,000.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11325863" y="4778759"/>
            <a:ext cx="793499" cy="793499"/>
            <a:chOff x="0" y="0"/>
            <a:chExt cx="1057999" cy="105799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011149"/>
            </a:solidFill>
            <a:ln w="25400" cap="sq">
              <a:solidFill>
                <a:srgbClr val="C2577F"/>
              </a:solidFill>
              <a:prstDash val="solid"/>
              <a:miter/>
            </a:ln>
          </p:spPr>
        </p:sp>
      </p:grpSp>
      <p:grpSp>
        <p:nvGrpSpPr>
          <p:cNvPr name="Group 14" id="14"/>
          <p:cNvGrpSpPr/>
          <p:nvPr/>
        </p:nvGrpSpPr>
        <p:grpSpPr>
          <a:xfrm rot="0">
            <a:off x="11338560" y="4791456"/>
            <a:ext cx="768096" cy="768096"/>
            <a:chOff x="0" y="0"/>
            <a:chExt cx="1024128" cy="1024128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2</a:t>
              </a: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435840" y="4642866"/>
            <a:ext cx="4937760" cy="206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5B22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Dot product keeps it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Scoring with the rebuilt table puts popular, fitting items first.</a:t>
            </a:r>
          </a:p>
        </p:txBody>
      </p:sp>
      <p:grpSp>
        <p:nvGrpSpPr>
          <p:cNvPr name="Group 18" id="18"/>
          <p:cNvGrpSpPr/>
          <p:nvPr/>
        </p:nvGrpSpPr>
        <p:grpSpPr>
          <a:xfrm rot="0">
            <a:off x="11325863" y="7009895"/>
            <a:ext cx="793499" cy="793499"/>
            <a:chOff x="0" y="0"/>
            <a:chExt cx="1057999" cy="1057999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058037" cy="1058037"/>
            </a:xfrm>
            <a:custGeom>
              <a:avLst/>
              <a:gdLst/>
              <a:ahLst/>
              <a:cxnLst/>
              <a:rect r="r" b="b" t="t" l="l"/>
              <a:pathLst>
                <a:path h="1058037" w="1058037">
                  <a:moveTo>
                    <a:pt x="0" y="528955"/>
                  </a:moveTo>
                  <a:cubicBezTo>
                    <a:pt x="0" y="236855"/>
                    <a:pt x="236855" y="0"/>
                    <a:pt x="528955" y="0"/>
                  </a:cubicBezTo>
                  <a:cubicBezTo>
                    <a:pt x="821055" y="0"/>
                    <a:pt x="1058037" y="236855"/>
                    <a:pt x="1058037" y="528955"/>
                  </a:cubicBezTo>
                  <a:cubicBezTo>
                    <a:pt x="1058037" y="821055"/>
                    <a:pt x="821182" y="1058037"/>
                    <a:pt x="528955" y="1058037"/>
                  </a:cubicBezTo>
                  <a:cubicBezTo>
                    <a:pt x="236728" y="1058037"/>
                    <a:pt x="0" y="821182"/>
                    <a:pt x="0" y="528955"/>
                  </a:cubicBezTo>
                  <a:close/>
                </a:path>
              </a:pathLst>
            </a:custGeom>
            <a:solidFill>
              <a:srgbClr val="011149"/>
            </a:solidFill>
            <a:ln w="25400" cap="sq">
              <a:solidFill>
                <a:srgbClr val="C2577F"/>
              </a:solidFill>
              <a:prstDash val="solid"/>
              <a:miter/>
            </a:ln>
          </p:spPr>
        </p:sp>
      </p:grpSp>
      <p:grpSp>
        <p:nvGrpSpPr>
          <p:cNvPr name="Group 20" id="20"/>
          <p:cNvGrpSpPr/>
          <p:nvPr/>
        </p:nvGrpSpPr>
        <p:grpSpPr>
          <a:xfrm rot="0">
            <a:off x="11338560" y="7022592"/>
            <a:ext cx="768096" cy="768096"/>
            <a:chOff x="0" y="0"/>
            <a:chExt cx="1024128" cy="1024128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24128" cy="1024128"/>
            </a:xfrm>
            <a:custGeom>
              <a:avLst/>
              <a:gdLst/>
              <a:ahLst/>
              <a:cxnLst/>
              <a:rect r="r" b="b" t="t" l="l"/>
              <a:pathLst>
                <a:path h="1024128" w="1024128">
                  <a:moveTo>
                    <a:pt x="0" y="0"/>
                  </a:moveTo>
                  <a:lnTo>
                    <a:pt x="1024128" y="0"/>
                  </a:lnTo>
                  <a:lnTo>
                    <a:pt x="1024128" y="1024128"/>
                  </a:lnTo>
                  <a:lnTo>
                    <a:pt x="0" y="1024128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78303" t="0" r="-78303" b="0"/>
              </a:stretch>
            </a:blip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66675"/>
              <a:ext cx="1024128" cy="1090803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3359"/>
                </a:lnSpc>
              </a:pPr>
              <a:r>
                <a:rPr lang="en-US" sz="2799" b="true">
                  <a:solidFill>
                    <a:srgbClr val="FFFFFF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3</a:t>
              </a:r>
            </a:p>
          </p:txBody>
        </p:sp>
      </p:grpSp>
      <p:sp>
        <p:nvSpPr>
          <p:cNvPr name="TextBox 23" id="23"/>
          <p:cNvSpPr txBox="true"/>
          <p:nvPr/>
        </p:nvSpPr>
        <p:spPr>
          <a:xfrm rot="0">
            <a:off x="12435840" y="6874002"/>
            <a:ext cx="4937760" cy="2068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20"/>
              </a:lnSpc>
            </a:pPr>
            <a:r>
              <a:rPr lang="en-US" sz="2600" b="true">
                <a:solidFill>
                  <a:srgbClr val="5B2245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 = 50, 1/0 values</a:t>
            </a:r>
          </a:p>
          <a:p>
            <a:pPr algn="l">
              <a:lnSpc>
                <a:spcPts val="3120"/>
              </a:lnSpc>
            </a:pPr>
            <a:r>
              <a:rPr lang="en-US" sz="2600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k = 100 gave 40.3%, within noise, at twice the size.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C8C8C"/>
                </a:solidFill>
                <a:latin typeface="Calibri (MS)"/>
                <a:ea typeface="Calibri (MS)"/>
                <a:cs typeface="Calibri (MS)"/>
                <a:sym typeface="Calibri (MS)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27106" y="-879090"/>
            <a:ext cx="16459200" cy="3815580"/>
            <a:chOff x="0" y="0"/>
            <a:chExt cx="21945600" cy="50874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5087439"/>
            </a:xfrm>
            <a:custGeom>
              <a:avLst/>
              <a:gdLst/>
              <a:ahLst/>
              <a:cxnLst/>
              <a:rect r="r" b="b" t="t" l="l"/>
              <a:pathLst>
                <a:path h="508743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7439"/>
                  </a:lnTo>
                  <a:lnTo>
                    <a:pt x="0" y="50874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78" r="0" b="-20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5096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sz="5199" b="true">
                  <a:solidFill>
                    <a:srgbClr val="F4ECF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6</a:t>
              </a:r>
              <a:r>
                <a:rPr lang="en-US" b="true" sz="5199">
                  <a:solidFill>
                    <a:srgbClr val="F4ECF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 customer groups marketing can name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01703" y="2273303"/>
            <a:ext cx="5255771" cy="2860043"/>
            <a:chOff x="0" y="0"/>
            <a:chExt cx="7007695" cy="38133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007733" cy="3813429"/>
            </a:xfrm>
            <a:custGeom>
              <a:avLst/>
              <a:gdLst/>
              <a:ahLst/>
              <a:cxnLst/>
              <a:rect r="r" b="b" t="t" l="l"/>
              <a:pathLst>
                <a:path h="3813429" w="7007733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712458" y="0"/>
                  </a:lnTo>
                  <a:cubicBezTo>
                    <a:pt x="6875526" y="0"/>
                    <a:pt x="7007733" y="132207"/>
                    <a:pt x="7007733" y="295275"/>
                  </a:cubicBezTo>
                  <a:lnTo>
                    <a:pt x="7007733" y="3518154"/>
                  </a:lnTo>
                  <a:cubicBezTo>
                    <a:pt x="7007733" y="3681222"/>
                    <a:pt x="6875526" y="3813429"/>
                    <a:pt x="6712458" y="3813429"/>
                  </a:cubicBezTo>
                  <a:lnTo>
                    <a:pt x="295275" y="3813429"/>
                  </a:lnTo>
                  <a:cubicBezTo>
                    <a:pt x="132207" y="3813429"/>
                    <a:pt x="0" y="3681222"/>
                    <a:pt x="0" y="3518154"/>
                  </a:cubicBezTo>
                  <a:close/>
                </a:path>
              </a:pathLst>
            </a:custGeom>
            <a:solidFill>
              <a:srgbClr val="F4ECF1"/>
            </a:soli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7" id="7"/>
          <p:cNvGrpSpPr/>
          <p:nvPr/>
        </p:nvGrpSpPr>
        <p:grpSpPr>
          <a:xfrm rot="0">
            <a:off x="1243584" y="2505456"/>
            <a:ext cx="1828800" cy="914400"/>
            <a:chOff x="0" y="0"/>
            <a:chExt cx="2438400" cy="12192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-9525"/>
              <a:ext cx="24384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30A7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23%</a:t>
              </a: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243584" y="3383280"/>
            <a:ext cx="4663440" cy="640080"/>
            <a:chOff x="0" y="0"/>
            <a:chExt cx="6217920" cy="85344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1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Cosy Comfort Gifts</a:t>
              </a: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1243584" y="3975735"/>
            <a:ext cx="466344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Hot water bottles, chocolate-themed gifts · smallest orders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6516119" y="2273303"/>
            <a:ext cx="5255771" cy="2860043"/>
            <a:chOff x="0" y="0"/>
            <a:chExt cx="7007695" cy="38133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7007733" cy="3813429"/>
            </a:xfrm>
            <a:custGeom>
              <a:avLst/>
              <a:gdLst/>
              <a:ahLst/>
              <a:cxnLst/>
              <a:rect r="r" b="b" t="t" l="l"/>
              <a:pathLst>
                <a:path h="3813429" w="7007733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712458" y="0"/>
                  </a:lnTo>
                  <a:cubicBezTo>
                    <a:pt x="6875526" y="0"/>
                    <a:pt x="7007733" y="132207"/>
                    <a:pt x="7007733" y="295275"/>
                  </a:cubicBezTo>
                  <a:lnTo>
                    <a:pt x="7007733" y="3518154"/>
                  </a:lnTo>
                  <a:cubicBezTo>
                    <a:pt x="7007733" y="3681222"/>
                    <a:pt x="6875526" y="3813429"/>
                    <a:pt x="6712458" y="3813429"/>
                  </a:cubicBezTo>
                  <a:lnTo>
                    <a:pt x="295275" y="3813429"/>
                  </a:lnTo>
                  <a:cubicBezTo>
                    <a:pt x="132207" y="3813429"/>
                    <a:pt x="0" y="3681222"/>
                    <a:pt x="0" y="3518154"/>
                  </a:cubicBezTo>
                  <a:close/>
                </a:path>
              </a:pathLst>
            </a:custGeom>
            <a:solidFill>
              <a:srgbClr val="F4ECF1"/>
            </a:soli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16" id="16"/>
          <p:cNvGrpSpPr/>
          <p:nvPr/>
        </p:nvGrpSpPr>
        <p:grpSpPr>
          <a:xfrm rot="0">
            <a:off x="6858000" y="2505456"/>
            <a:ext cx="1828800" cy="914400"/>
            <a:chOff x="0" y="0"/>
            <a:chExt cx="2438400" cy="12192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9525"/>
              <a:ext cx="24384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30A7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22%</a:t>
              </a: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6858000" y="3383280"/>
            <a:ext cx="4663440" cy="640080"/>
            <a:chOff x="0" y="0"/>
            <a:chExt cx="6217920" cy="853440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1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Romantic Home Décor</a:t>
              </a:r>
            </a:p>
          </p:txBody>
        </p:sp>
      </p:grpSp>
      <p:sp>
        <p:nvSpPr>
          <p:cNvPr name="TextBox 22" id="22"/>
          <p:cNvSpPr txBox="true"/>
          <p:nvPr/>
        </p:nvSpPr>
        <p:spPr>
          <a:xfrm rot="0">
            <a:off x="6858000" y="3975735"/>
            <a:ext cx="466344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Heart decorations, lanterns, trellis · 98% UK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12130535" y="2273303"/>
            <a:ext cx="5255771" cy="2860043"/>
            <a:chOff x="0" y="0"/>
            <a:chExt cx="7007695" cy="38133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7007733" cy="3813429"/>
            </a:xfrm>
            <a:custGeom>
              <a:avLst/>
              <a:gdLst/>
              <a:ahLst/>
              <a:cxnLst/>
              <a:rect r="r" b="b" t="t" l="l"/>
              <a:pathLst>
                <a:path h="3813429" w="7007733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712458" y="0"/>
                  </a:lnTo>
                  <a:cubicBezTo>
                    <a:pt x="6875526" y="0"/>
                    <a:pt x="7007733" y="132207"/>
                    <a:pt x="7007733" y="295275"/>
                  </a:cubicBezTo>
                  <a:lnTo>
                    <a:pt x="7007733" y="3518154"/>
                  </a:lnTo>
                  <a:cubicBezTo>
                    <a:pt x="7007733" y="3681222"/>
                    <a:pt x="6875526" y="3813429"/>
                    <a:pt x="6712458" y="3813429"/>
                  </a:cubicBezTo>
                  <a:lnTo>
                    <a:pt x="295275" y="3813429"/>
                  </a:lnTo>
                  <a:cubicBezTo>
                    <a:pt x="132207" y="3813429"/>
                    <a:pt x="0" y="3681222"/>
                    <a:pt x="0" y="3518154"/>
                  </a:cubicBezTo>
                  <a:close/>
                </a:path>
              </a:pathLst>
            </a:custGeom>
            <a:solidFill>
              <a:srgbClr val="F4ECF1"/>
            </a:soli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25" id="25"/>
          <p:cNvGrpSpPr/>
          <p:nvPr/>
        </p:nvGrpSpPr>
        <p:grpSpPr>
          <a:xfrm rot="0">
            <a:off x="12472416" y="2505456"/>
            <a:ext cx="1828800" cy="914400"/>
            <a:chOff x="0" y="0"/>
            <a:chExt cx="2438400" cy="12192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9525"/>
              <a:ext cx="24384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30A7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19%</a:t>
              </a: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12472416" y="3383280"/>
            <a:ext cx="4663440" cy="640080"/>
            <a:chOff x="0" y="0"/>
            <a:chExt cx="6217920" cy="853440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1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Kids' Crafts &amp; Games</a:t>
              </a: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12472416" y="3975735"/>
            <a:ext cx="466344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Crayons, paint sets, Ludo, coloured pencils</a:t>
            </a:r>
          </a:p>
        </p:txBody>
      </p:sp>
      <p:grpSp>
        <p:nvGrpSpPr>
          <p:cNvPr name="Group 32" id="32"/>
          <p:cNvGrpSpPr/>
          <p:nvPr/>
        </p:nvGrpSpPr>
        <p:grpSpPr>
          <a:xfrm rot="0">
            <a:off x="901703" y="5418839"/>
            <a:ext cx="5255771" cy="2860043"/>
            <a:chOff x="0" y="0"/>
            <a:chExt cx="7007695" cy="38133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7007733" cy="3813429"/>
            </a:xfrm>
            <a:custGeom>
              <a:avLst/>
              <a:gdLst/>
              <a:ahLst/>
              <a:cxnLst/>
              <a:rect r="r" b="b" t="t" l="l"/>
              <a:pathLst>
                <a:path h="3813429" w="7007733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712458" y="0"/>
                  </a:lnTo>
                  <a:cubicBezTo>
                    <a:pt x="6875526" y="0"/>
                    <a:pt x="7007733" y="132207"/>
                    <a:pt x="7007733" y="295275"/>
                  </a:cubicBezTo>
                  <a:lnTo>
                    <a:pt x="7007733" y="3518154"/>
                  </a:lnTo>
                  <a:cubicBezTo>
                    <a:pt x="7007733" y="3681222"/>
                    <a:pt x="6875526" y="3813429"/>
                    <a:pt x="6712458" y="3813429"/>
                  </a:cubicBezTo>
                  <a:lnTo>
                    <a:pt x="295275" y="3813429"/>
                  </a:lnTo>
                  <a:cubicBezTo>
                    <a:pt x="132207" y="3813429"/>
                    <a:pt x="0" y="3681222"/>
                    <a:pt x="0" y="3518154"/>
                  </a:cubicBezTo>
                  <a:close/>
                </a:path>
              </a:pathLst>
            </a:custGeom>
            <a:solidFill>
              <a:srgbClr val="F4ECF1"/>
            </a:soli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34" id="34"/>
          <p:cNvGrpSpPr/>
          <p:nvPr/>
        </p:nvGrpSpPr>
        <p:grpSpPr>
          <a:xfrm rot="0">
            <a:off x="1243584" y="5650992"/>
            <a:ext cx="1828800" cy="914400"/>
            <a:chOff x="0" y="0"/>
            <a:chExt cx="2438400" cy="1219200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9525"/>
              <a:ext cx="24384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30A7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15%</a:t>
              </a: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243584" y="6528816"/>
            <a:ext cx="4663440" cy="640080"/>
            <a:chOff x="0" y="0"/>
            <a:chExt cx="6217920" cy="853440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1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Bags &amp; Storage Bulk Buyers</a:t>
              </a: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1243584" y="7121271"/>
            <a:ext cx="466344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Jumbo bags in many designs · largest orders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6516119" y="5418839"/>
            <a:ext cx="5255771" cy="2860043"/>
            <a:chOff x="0" y="0"/>
            <a:chExt cx="7007695" cy="3813391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7007733" cy="3813429"/>
            </a:xfrm>
            <a:custGeom>
              <a:avLst/>
              <a:gdLst/>
              <a:ahLst/>
              <a:cxnLst/>
              <a:rect r="r" b="b" t="t" l="l"/>
              <a:pathLst>
                <a:path h="3813429" w="7007733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712458" y="0"/>
                  </a:lnTo>
                  <a:cubicBezTo>
                    <a:pt x="6875526" y="0"/>
                    <a:pt x="7007733" y="132207"/>
                    <a:pt x="7007733" y="295275"/>
                  </a:cubicBezTo>
                  <a:lnTo>
                    <a:pt x="7007733" y="3518154"/>
                  </a:lnTo>
                  <a:cubicBezTo>
                    <a:pt x="7007733" y="3681222"/>
                    <a:pt x="6875526" y="3813429"/>
                    <a:pt x="6712458" y="3813429"/>
                  </a:cubicBezTo>
                  <a:lnTo>
                    <a:pt x="295275" y="3813429"/>
                  </a:lnTo>
                  <a:cubicBezTo>
                    <a:pt x="132207" y="3813429"/>
                    <a:pt x="0" y="3681222"/>
                    <a:pt x="0" y="3518154"/>
                  </a:cubicBezTo>
                  <a:close/>
                </a:path>
              </a:pathLst>
            </a:custGeom>
            <a:solidFill>
              <a:srgbClr val="F4ECF1"/>
            </a:soli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43" id="43"/>
          <p:cNvGrpSpPr/>
          <p:nvPr/>
        </p:nvGrpSpPr>
        <p:grpSpPr>
          <a:xfrm rot="0">
            <a:off x="6858000" y="5650992"/>
            <a:ext cx="1828800" cy="914400"/>
            <a:chOff x="0" y="0"/>
            <a:chExt cx="2438400" cy="1219200"/>
          </a:xfrm>
        </p:grpSpPr>
        <p:sp>
          <p:nvSpPr>
            <p:cNvPr name="Freeform 44" id="44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45" id="45"/>
            <p:cNvSpPr txBox="true"/>
            <p:nvPr/>
          </p:nvSpPr>
          <p:spPr>
            <a:xfrm>
              <a:off x="0" y="-9525"/>
              <a:ext cx="24384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30A7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14%</a:t>
              </a:r>
            </a:p>
          </p:txBody>
        </p:sp>
      </p:grpSp>
      <p:grpSp>
        <p:nvGrpSpPr>
          <p:cNvPr name="Group 46" id="46"/>
          <p:cNvGrpSpPr/>
          <p:nvPr/>
        </p:nvGrpSpPr>
        <p:grpSpPr>
          <a:xfrm rot="0">
            <a:off x="6858000" y="6528816"/>
            <a:ext cx="4663440" cy="640080"/>
            <a:chOff x="0" y="0"/>
            <a:chExt cx="6217920" cy="853440"/>
          </a:xfrm>
        </p:grpSpPr>
        <p:sp>
          <p:nvSpPr>
            <p:cNvPr name="Freeform 47" id="47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48" id="48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1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Party Supplies</a:t>
              </a:r>
            </a:p>
          </p:txBody>
        </p:sp>
      </p:grpSp>
      <p:sp>
        <p:nvSpPr>
          <p:cNvPr name="TextBox 49" id="49"/>
          <p:cNvSpPr txBox="true"/>
          <p:nvPr/>
        </p:nvSpPr>
        <p:spPr>
          <a:xfrm rot="0">
            <a:off x="6858000" y="7121271"/>
            <a:ext cx="466344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Paper plates, cups, cake cases · most international</a:t>
            </a:r>
          </a:p>
        </p:txBody>
      </p:sp>
      <p:grpSp>
        <p:nvGrpSpPr>
          <p:cNvPr name="Group 50" id="50"/>
          <p:cNvGrpSpPr/>
          <p:nvPr/>
        </p:nvGrpSpPr>
        <p:grpSpPr>
          <a:xfrm rot="0">
            <a:off x="12130535" y="5418839"/>
            <a:ext cx="5255771" cy="2860043"/>
            <a:chOff x="0" y="0"/>
            <a:chExt cx="7007695" cy="3813391"/>
          </a:xfrm>
        </p:grpSpPr>
        <p:sp>
          <p:nvSpPr>
            <p:cNvPr name="Freeform 51" id="51"/>
            <p:cNvSpPr/>
            <p:nvPr/>
          </p:nvSpPr>
          <p:spPr>
            <a:xfrm flipH="false" flipV="false" rot="0">
              <a:off x="0" y="0"/>
              <a:ext cx="7007733" cy="3813429"/>
            </a:xfrm>
            <a:custGeom>
              <a:avLst/>
              <a:gdLst/>
              <a:ahLst/>
              <a:cxnLst/>
              <a:rect r="r" b="b" t="t" l="l"/>
              <a:pathLst>
                <a:path h="3813429" w="7007733">
                  <a:moveTo>
                    <a:pt x="0" y="295275"/>
                  </a:moveTo>
                  <a:cubicBezTo>
                    <a:pt x="0" y="132207"/>
                    <a:pt x="132207" y="0"/>
                    <a:pt x="295275" y="0"/>
                  </a:cubicBezTo>
                  <a:lnTo>
                    <a:pt x="6712458" y="0"/>
                  </a:lnTo>
                  <a:cubicBezTo>
                    <a:pt x="6875526" y="0"/>
                    <a:pt x="7007733" y="132207"/>
                    <a:pt x="7007733" y="295275"/>
                  </a:cubicBezTo>
                  <a:lnTo>
                    <a:pt x="7007733" y="3518154"/>
                  </a:lnTo>
                  <a:cubicBezTo>
                    <a:pt x="7007733" y="3681222"/>
                    <a:pt x="6875526" y="3813429"/>
                    <a:pt x="6712458" y="3813429"/>
                  </a:cubicBezTo>
                  <a:lnTo>
                    <a:pt x="295275" y="3813429"/>
                  </a:lnTo>
                  <a:cubicBezTo>
                    <a:pt x="132207" y="3813429"/>
                    <a:pt x="0" y="3681222"/>
                    <a:pt x="0" y="3518154"/>
                  </a:cubicBezTo>
                  <a:close/>
                </a:path>
              </a:pathLst>
            </a:custGeom>
            <a:solidFill>
              <a:srgbClr val="F4ECF1"/>
            </a:solidFill>
            <a:ln w="25400" cap="sq">
              <a:solidFill>
                <a:srgbClr val="F4ECF1"/>
              </a:solidFill>
              <a:prstDash val="solid"/>
              <a:miter/>
            </a:ln>
          </p:spPr>
        </p:sp>
      </p:grpSp>
      <p:grpSp>
        <p:nvGrpSpPr>
          <p:cNvPr name="Group 52" id="52"/>
          <p:cNvGrpSpPr/>
          <p:nvPr/>
        </p:nvGrpSpPr>
        <p:grpSpPr>
          <a:xfrm rot="0">
            <a:off x="12472416" y="5650992"/>
            <a:ext cx="1828800" cy="914400"/>
            <a:chOff x="0" y="0"/>
            <a:chExt cx="2438400" cy="1219200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2438400" cy="1219200"/>
            </a:xfrm>
            <a:custGeom>
              <a:avLst/>
              <a:gdLst/>
              <a:ahLst/>
              <a:cxnLst/>
              <a:rect r="r" b="b" t="t" l="l"/>
              <a:pathLst>
                <a:path h="1219200" w="2438400">
                  <a:moveTo>
                    <a:pt x="0" y="0"/>
                  </a:moveTo>
                  <a:lnTo>
                    <a:pt x="2438400" y="0"/>
                  </a:lnTo>
                  <a:lnTo>
                    <a:pt x="2438400" y="1219200"/>
                  </a:lnTo>
                  <a:lnTo>
                    <a:pt x="0" y="12192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-14151" t="0" r="-14151" b="0"/>
              </a:stretch>
            </a:blipFill>
          </p:spPr>
        </p:sp>
        <p:sp>
          <p:nvSpPr>
            <p:cNvPr name="TextBox 54" id="54"/>
            <p:cNvSpPr txBox="true"/>
            <p:nvPr/>
          </p:nvSpPr>
          <p:spPr>
            <a:xfrm>
              <a:off x="0" y="-9525"/>
              <a:ext cx="2438400" cy="122872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30A7A5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8%</a:t>
              </a:r>
            </a:p>
          </p:txBody>
        </p:sp>
      </p:grpSp>
      <p:grpSp>
        <p:nvGrpSpPr>
          <p:cNvPr name="Group 55" id="55"/>
          <p:cNvGrpSpPr/>
          <p:nvPr/>
        </p:nvGrpSpPr>
        <p:grpSpPr>
          <a:xfrm rot="0">
            <a:off x="12472416" y="6528816"/>
            <a:ext cx="4663440" cy="640080"/>
            <a:chOff x="0" y="0"/>
            <a:chExt cx="6217920" cy="853440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6217920" cy="853440"/>
            </a:xfrm>
            <a:custGeom>
              <a:avLst/>
              <a:gdLst/>
              <a:ahLst/>
              <a:cxnLst/>
              <a:rect r="r" b="b" t="t" l="l"/>
              <a:pathLst>
                <a:path h="853440" w="6217920">
                  <a:moveTo>
                    <a:pt x="0" y="0"/>
                  </a:moveTo>
                  <a:lnTo>
                    <a:pt x="6217920" y="0"/>
                  </a:lnTo>
                  <a:lnTo>
                    <a:pt x="6217920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91962" r="0" b="-91962"/>
              </a:stretch>
            </a:blipFill>
          </p:spPr>
        </p:sp>
        <p:sp>
          <p:nvSpPr>
            <p:cNvPr name="TextBox 57" id="57"/>
            <p:cNvSpPr txBox="true"/>
            <p:nvPr/>
          </p:nvSpPr>
          <p:spPr>
            <a:xfrm>
              <a:off x="0" y="-66675"/>
              <a:ext cx="6217920" cy="92011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359"/>
                </a:lnSpc>
              </a:pPr>
              <a:r>
                <a:rPr lang="en-US" b="true" sz="2799">
                  <a:solidFill>
                    <a:srgbClr val="011149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Vintage Tea Party</a:t>
              </a:r>
            </a:p>
          </p:txBody>
        </p:sp>
      </p:grpSp>
      <p:sp>
        <p:nvSpPr>
          <p:cNvPr name="TextBox 58" id="58"/>
          <p:cNvSpPr txBox="true"/>
          <p:nvPr/>
        </p:nvSpPr>
        <p:spPr>
          <a:xfrm rot="0">
            <a:off x="12472416" y="7121271"/>
            <a:ext cx="4663440" cy="1053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39"/>
              </a:lnSpc>
            </a:pPr>
            <a:r>
              <a:rPr lang="en-US" sz="2199">
                <a:solidFill>
                  <a:srgbClr val="2B2B2B"/>
                </a:solidFill>
                <a:latin typeface="Calibri (MS)"/>
                <a:ea typeface="Calibri (MS)"/>
                <a:cs typeface="Calibri (MS)"/>
                <a:sym typeface="Calibri (MS)"/>
              </a:rPr>
              <a:t>Regency teacups, plates, milk jugs</a:t>
            </a:r>
          </a:p>
        </p:txBody>
      </p:sp>
      <p:grpSp>
        <p:nvGrpSpPr>
          <p:cNvPr name="Group 59" id="59"/>
          <p:cNvGrpSpPr/>
          <p:nvPr/>
        </p:nvGrpSpPr>
        <p:grpSpPr>
          <a:xfrm rot="0">
            <a:off x="914400" y="8686800"/>
            <a:ext cx="15727680" cy="640080"/>
            <a:chOff x="0" y="0"/>
            <a:chExt cx="20970240" cy="853440"/>
          </a:xfrm>
        </p:grpSpPr>
        <p:sp>
          <p:nvSpPr>
            <p:cNvPr name="Freeform 60" id="60"/>
            <p:cNvSpPr/>
            <p:nvPr/>
          </p:nvSpPr>
          <p:spPr>
            <a:xfrm flipH="false" flipV="false" rot="0">
              <a:off x="0" y="0"/>
              <a:ext cx="20970239" cy="853440"/>
            </a:xfrm>
            <a:custGeom>
              <a:avLst/>
              <a:gdLst/>
              <a:ahLst/>
              <a:cxnLst/>
              <a:rect r="r" b="b" t="t" l="l"/>
              <a:pathLst>
                <a:path h="853440" w="20970239">
                  <a:moveTo>
                    <a:pt x="0" y="0"/>
                  </a:moveTo>
                  <a:lnTo>
                    <a:pt x="20970239" y="0"/>
                  </a:lnTo>
                  <a:lnTo>
                    <a:pt x="20970239" y="853440"/>
                  </a:lnTo>
                  <a:lnTo>
                    <a:pt x="0" y="85344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28775" r="0" b="-428775"/>
              </a:stretch>
            </a:blipFill>
          </p:spPr>
        </p:sp>
        <p:sp>
          <p:nvSpPr>
            <p:cNvPr name="TextBox 61" id="61"/>
            <p:cNvSpPr txBox="true"/>
            <p:nvPr/>
          </p:nvSpPr>
          <p:spPr>
            <a:xfrm>
              <a:off x="0" y="-47625"/>
              <a:ext cx="20970240" cy="90106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2639"/>
                </a:lnSpc>
              </a:pPr>
              <a:r>
                <a:rPr lang="en-US" sz="2199">
                  <a:solidFill>
                    <a:srgbClr val="5CE1E6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Groups overlap (silhouette ≈ 0.05): read each as a customer's main interest. Country barely separates them.</a:t>
              </a:r>
            </a:p>
          </p:txBody>
        </p:sp>
      </p:grpSp>
      <p:sp>
        <p:nvSpPr>
          <p:cNvPr name="TextBox 62" id="62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C8C8C"/>
                </a:solidFill>
                <a:latin typeface="Calibri (MS)"/>
                <a:ea typeface="Calibri (MS)"/>
                <a:cs typeface="Calibri (MS)"/>
                <a:sym typeface="Calibri (MS)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302790"/>
            <a:ext cx="16459200" cy="3815580"/>
            <a:chOff x="0" y="0"/>
            <a:chExt cx="21945600" cy="50874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5087439"/>
            </a:xfrm>
            <a:custGeom>
              <a:avLst/>
              <a:gdLst/>
              <a:ahLst/>
              <a:cxnLst/>
              <a:rect r="r" b="b" t="t" l="l"/>
              <a:pathLst>
                <a:path h="508743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7439"/>
                  </a:lnTo>
                  <a:lnTo>
                    <a:pt x="0" y="50874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78" r="0" b="-20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5096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F4ECF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could go wrong</a:t>
              </a: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09221" y="3791948"/>
            <a:ext cx="1826804" cy="1826804"/>
          </a:xfrm>
          <a:custGeom>
            <a:avLst/>
            <a:gdLst/>
            <a:ahLst/>
            <a:cxnLst/>
            <a:rect r="r" b="b" t="t" l="l"/>
            <a:pathLst>
              <a:path h="1826804" w="1826804">
                <a:moveTo>
                  <a:pt x="0" y="0"/>
                </a:moveTo>
                <a:lnTo>
                  <a:pt x="1826804" y="0"/>
                </a:lnTo>
                <a:lnTo>
                  <a:pt x="1826804" y="1826805"/>
                </a:lnTo>
                <a:lnTo>
                  <a:pt x="0" y="182680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5549914" y="3654695"/>
            <a:ext cx="1954238" cy="1964058"/>
          </a:xfrm>
          <a:custGeom>
            <a:avLst/>
            <a:gdLst/>
            <a:ahLst/>
            <a:cxnLst/>
            <a:rect r="r" b="b" t="t" l="l"/>
            <a:pathLst>
              <a:path h="1964058" w="1954238">
                <a:moveTo>
                  <a:pt x="0" y="0"/>
                </a:moveTo>
                <a:lnTo>
                  <a:pt x="1954238" y="0"/>
                </a:lnTo>
                <a:lnTo>
                  <a:pt x="1954238" y="1964058"/>
                </a:lnTo>
                <a:lnTo>
                  <a:pt x="0" y="196405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9618702" y="3654695"/>
            <a:ext cx="2294593" cy="1847147"/>
          </a:xfrm>
          <a:custGeom>
            <a:avLst/>
            <a:gdLst/>
            <a:ahLst/>
            <a:cxnLst/>
            <a:rect r="r" b="b" t="t" l="l"/>
            <a:pathLst>
              <a:path h="1847147" w="2294593">
                <a:moveTo>
                  <a:pt x="0" y="0"/>
                </a:moveTo>
                <a:lnTo>
                  <a:pt x="2294593" y="0"/>
                </a:lnTo>
                <a:lnTo>
                  <a:pt x="2294593" y="1847147"/>
                </a:lnTo>
                <a:lnTo>
                  <a:pt x="0" y="1847147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4027845" y="3512790"/>
            <a:ext cx="1498204" cy="2171310"/>
          </a:xfrm>
          <a:custGeom>
            <a:avLst/>
            <a:gdLst/>
            <a:ahLst/>
            <a:cxnLst/>
            <a:rect r="r" b="b" t="t" l="l"/>
            <a:pathLst>
              <a:path h="2171310" w="1498204">
                <a:moveTo>
                  <a:pt x="0" y="0"/>
                </a:moveTo>
                <a:lnTo>
                  <a:pt x="1498204" y="0"/>
                </a:lnTo>
                <a:lnTo>
                  <a:pt x="1498204" y="2171310"/>
                </a:lnTo>
                <a:lnTo>
                  <a:pt x="0" y="21713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C8C8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6135793"/>
            <a:ext cx="2895659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4ECF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New customers have no history; they see best sellers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5079204" y="6135793"/>
            <a:ext cx="2895659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4ECF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Tested on Oct-Dec; may be weaker in quieter months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318169" y="6135793"/>
            <a:ext cx="2895659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4ECF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List repeats variants of same item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3329117" y="6135793"/>
            <a:ext cx="2895659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4ECF1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Settings chosen on the test months; slightly optimistic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1114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914400" y="-639814"/>
            <a:ext cx="16459200" cy="3815580"/>
            <a:chOff x="0" y="0"/>
            <a:chExt cx="21945600" cy="508743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1945600" cy="5087439"/>
            </a:xfrm>
            <a:custGeom>
              <a:avLst/>
              <a:gdLst/>
              <a:ahLst/>
              <a:cxnLst/>
              <a:rect r="r" b="b" t="t" l="l"/>
              <a:pathLst>
                <a:path h="5087439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5087439"/>
                  </a:lnTo>
                  <a:lnTo>
                    <a:pt x="0" y="5087439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66078" r="0" b="-2025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21945600" cy="5096964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6239"/>
                </a:lnSpc>
              </a:pPr>
              <a:r>
                <a:rPr lang="en-US" b="true" sz="5199">
                  <a:solidFill>
                    <a:srgbClr val="F4ECF1"/>
                  </a:solidFill>
                  <a:latin typeface="Cambria Bold"/>
                  <a:ea typeface="Cambria Bold"/>
                  <a:cs typeface="Cambria Bold"/>
                  <a:sym typeface="Cambria Bold"/>
                </a:rPr>
                <a:t>What to do next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14400" y="8138160"/>
            <a:ext cx="16459200" cy="822960"/>
            <a:chOff x="0" y="0"/>
            <a:chExt cx="21945600" cy="10972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1945600" cy="1097280"/>
            </a:xfrm>
            <a:custGeom>
              <a:avLst/>
              <a:gdLst/>
              <a:ahLst/>
              <a:cxnLst/>
              <a:rect r="r" b="b" t="t" l="l"/>
              <a:pathLst>
                <a:path h="1097280" w="21945600">
                  <a:moveTo>
                    <a:pt x="0" y="0"/>
                  </a:moveTo>
                  <a:lnTo>
                    <a:pt x="21945600" y="0"/>
                  </a:lnTo>
                  <a:lnTo>
                    <a:pt x="21945600" y="1097280"/>
                  </a:lnTo>
                  <a:lnTo>
                    <a:pt x="0" y="109728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339700" r="0" b="-339700"/>
              </a:stretch>
            </a:blipFill>
          </p:spPr>
        </p:sp>
        <p:sp>
          <p:nvSpPr>
            <p:cNvPr name="TextBox 7" id="7"/>
            <p:cNvSpPr txBox="true"/>
            <p:nvPr/>
          </p:nvSpPr>
          <p:spPr>
            <a:xfrm>
              <a:off x="0" y="-66675"/>
              <a:ext cx="21945600" cy="116395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3600"/>
                </a:lnSpc>
              </a:pPr>
              <a:r>
                <a:rPr lang="en-US" b="true" sz="3000">
                  <a:solidFill>
                    <a:srgbClr val="5CE1E6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Recommendation: launch the box on a share of product pages and measure it against best sellers.</a:t>
              </a: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213228" y="3175766"/>
            <a:ext cx="2177396" cy="2366735"/>
          </a:xfrm>
          <a:custGeom>
            <a:avLst/>
            <a:gdLst/>
            <a:ahLst/>
            <a:cxnLst/>
            <a:rect r="r" b="b" t="t" l="l"/>
            <a:pathLst>
              <a:path h="2366735" w="2177396">
                <a:moveTo>
                  <a:pt x="0" y="0"/>
                </a:moveTo>
                <a:lnTo>
                  <a:pt x="2177395" y="0"/>
                </a:lnTo>
                <a:lnTo>
                  <a:pt x="2177395" y="2366734"/>
                </a:lnTo>
                <a:lnTo>
                  <a:pt x="0" y="2366734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5715923" y="3459145"/>
            <a:ext cx="1799976" cy="1799976"/>
          </a:xfrm>
          <a:custGeom>
            <a:avLst/>
            <a:gdLst/>
            <a:ahLst/>
            <a:cxnLst/>
            <a:rect r="r" b="b" t="t" l="l"/>
            <a:pathLst>
              <a:path h="1799976" w="1799976">
                <a:moveTo>
                  <a:pt x="0" y="0"/>
                </a:moveTo>
                <a:lnTo>
                  <a:pt x="1799976" y="0"/>
                </a:lnTo>
                <a:lnTo>
                  <a:pt x="1799976" y="1799976"/>
                </a:lnTo>
                <a:lnTo>
                  <a:pt x="0" y="179997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841199" y="3197508"/>
            <a:ext cx="2323250" cy="2323250"/>
          </a:xfrm>
          <a:custGeom>
            <a:avLst/>
            <a:gdLst/>
            <a:ahLst/>
            <a:cxnLst/>
            <a:rect r="r" b="b" t="t" l="l"/>
            <a:pathLst>
              <a:path h="2323250" w="2323250">
                <a:moveTo>
                  <a:pt x="0" y="0"/>
                </a:moveTo>
                <a:lnTo>
                  <a:pt x="2323250" y="0"/>
                </a:lnTo>
                <a:lnTo>
                  <a:pt x="2323250" y="2323250"/>
                </a:lnTo>
                <a:lnTo>
                  <a:pt x="0" y="2323250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14488549" y="3318178"/>
            <a:ext cx="2586223" cy="2081910"/>
          </a:xfrm>
          <a:custGeom>
            <a:avLst/>
            <a:gdLst/>
            <a:ahLst/>
            <a:cxnLst/>
            <a:rect r="r" b="b" t="t" l="l"/>
            <a:pathLst>
              <a:path h="2081910" w="2586223">
                <a:moveTo>
                  <a:pt x="0" y="0"/>
                </a:moveTo>
                <a:lnTo>
                  <a:pt x="2586223" y="0"/>
                </a:lnTo>
                <a:lnTo>
                  <a:pt x="2586223" y="2081910"/>
                </a:lnTo>
                <a:lnTo>
                  <a:pt x="0" y="2081910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6916400" y="9517380"/>
            <a:ext cx="731520" cy="495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00"/>
              </a:lnSpc>
            </a:pPr>
            <a:r>
              <a:rPr lang="en-US" sz="2000">
                <a:solidFill>
                  <a:srgbClr val="8C8C8C"/>
                </a:solidFill>
                <a:latin typeface="Calibri (MS)"/>
                <a:ea typeface="Calibri (MS)"/>
                <a:cs typeface="Calibri (MS)"/>
                <a:sym typeface="Calibri (MS)"/>
              </a:rPr>
              <a:t>7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" y="6010030"/>
            <a:ext cx="2594111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Live A/B test against best sellers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318856" y="6010030"/>
            <a:ext cx="2594111" cy="790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Max 2 items per product family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705769" y="6010030"/>
            <a:ext cx="2594111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Retrain monthly: confirm on seperate months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4665189" y="6010030"/>
            <a:ext cx="2594111" cy="116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499" b="true">
                <a:solidFill>
                  <a:srgbClr val="FFFFFF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Best sellers for new customers until first order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DAHX1BsY9vU</dc:identifier>
  <dcterms:modified xsi:type="dcterms:W3CDTF">2011-08-01T06:04:30Z</dcterms:modified>
  <cp:revision>1</cp:revision>
  <dc:title>slidess</dc:title>
</cp:coreProperties>
</file>