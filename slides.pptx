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855e35-6301-1860-16f3-3f82bbfe5d12}">
          <p14:sldIdLst>
            <p14:sldId id="256"/>
          </p14:sldIdLst>
        </p14:section>
        <p14:section name="Results" id="{f48b8c2e-1576-c7bc-e6bb-89716f95bac4}">
          <p14:sldIdLst>
            <p14:sldId id="257"/>
          </p14:sldIdLst>
        </p14:section>
        <p14:section name="Data engineering" id="{ce46f0fa-5eaf-5b53-27d4-2001d166dfb7}">
          <p14:sldIdLst>
            <p14:sldId id="258"/>
          </p14:sldIdLst>
        </p14:section>
        <p14:section name="Method" id="{cdb20be8-69f8-7dfa-55e5-103d789e7ad7}">
          <p14:sldIdLst>
            <p14:sldId id="259"/>
            <p14:sldId id="260"/>
          </p14:sldIdLst>
        </p14:section>
        <p14:section name="Marketing" id="{562b3b81-6566-676b-122c-24ae6661e6d3}">
          <p14:sldIdLst>
            <p14:sldId id="261"/>
          </p14:sldIdLst>
        </p14:section>
        <p14:section name="Close" id="{ce14ddc3-2f1e-f235-41f2-deb9a7a5237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2245"/>
                </a:solidFill>
                <a:latin typeface="+mn-lt"/>
              </a:defRPr>
            </a:pPr>
            <a:r>
              <a:rPr sz="1200" b="0" i="0" u="none" strike="noStrike">
                <a:solidFill>
                  <a:srgbClr val="5B2245"/>
                </a:solidFill>
                <a:latin typeface="+mn-lt"/>
              </a:rPr>
              <a:t>Customers with a correct top-10 suggestion (k = 50, 1,913 test customers)</a:t>
            </a:r>
          </a:p>
        </c:rich>
      </c:tx>
      <c:layout/>
      <c:overlay val="0"/>
    </c:title>
    <c:autoTitleDeleted val="0"/>
    <c:plotArea>
      <c:layout/>
      <c:barChart>
        <c:barDir val="col"/>
        <c:grouping val="clustered"/>
        <c:varyColors val="0"/>
        <c:ser>
          <c:idx val="0"/>
          <c:order val="0"/>
          <c:tx>
            <c:strRef>
              <c:f>Sheet1!$B$1</c:f>
              <c:strCache>
                <c:ptCount val="1"/>
                <c:pt idx="0">
                  <c:v>Hit rate at 10 (%)</c:v>
                </c:pt>
              </c:strCache>
            </c:strRef>
          </c:tx>
          <c:spPr>
            <a:solidFill>
              <a:srgbClr val="8C8C8C"/>
            </a:solidFill>
            <a:effectLst/>
          </c:spPr>
          <c:invertIfNegative val="0"/>
          <c:dLbls>
            <c:numFmt formatCode="0.0&quot;%&quot;" sourceLinked="0"/>
            <c:txPr>
              <a:bodyPr/>
              <a:lstStyle/>
              <a:p>
                <a:pPr>
                  <a:defRPr b="0" i="0" strike="noStrike" sz="1400" u="none">
                    <a:solidFill>
                      <a:srgbClr val="2B2B2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B9A3B1"/>
              </a:solidFill>
              <a:effectLst/>
            </c:spPr>
          </c:dPt>
          <c:dPt>
            <c:idx val="2"/>
            <c:invertIfNegative val="0"/>
            <c:bubble3D val="0"/>
            <c:spPr>
              <a:solidFill>
                <a:srgbClr val="C2577F"/>
              </a:solidFill>
              <a:effectLst/>
            </c:spPr>
          </c:dPt>
          <c:cat>
            <c:multiLvlStrRef>
              <c:f>Sheet1!$A$2:$A$4</c:f>
              <c:multiLvlStrCache>
                <c:ptCount val="3"/>
                <c:lvl>
                  <c:pt idx="0">
                    <c:v>Best sellers (baseline)</c:v>
                  </c:pt>
                  <c:pt idx="1">
                    <c:v>SVD + cosine similarity</c:v>
                  </c:pt>
                  <c:pt idx="2">
                    <c:v>SVD + dot product (final)</c:v>
                  </c:pt>
                </c:lvl>
              </c:multiLvlStrCache>
            </c:multiLvlStrRef>
          </c:cat>
          <c:val>
            <c:numRef>
              <c:f>Sheet1!$B$2:$B$4</c:f>
              <c:numCache>
                <c:formatCode>General</c:formatCode>
                <c:ptCount val="3"/>
                <c:pt idx="0">
                  <c:v>26.9</c:v>
                </c:pt>
                <c:pt idx="1">
                  <c:v>23.6</c:v>
                </c:pt>
                <c:pt idx="2">
                  <c:v>40</c:v>
                </c:pt>
              </c:numCache>
            </c:numRef>
          </c:val>
        </c:ser>
        <c:dLbls>
          <c:numFmt formatCode="0.0&quot;%&quot;" sourceLinked="0"/>
          <c:txPr>
            <a:bodyPr/>
            <a:lstStyle/>
            <a:p>
              <a:pPr>
                <a:defRPr b="0" i="0" strike="noStrike" sz="1400" u="none">
                  <a:solidFill>
                    <a:srgbClr val="2B2B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asked for two things before Q4 planning: a fast 'also bought' box for product pages that beats our best-seller list, and one simple picture of our customer groups for marketing. I did this project alone, so I'll cover both the data engineering and the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40% of returning customers had a product they really went on to buy in their top 10 suggestions, against 27% for the best-seller list. The nightly job takes three and a half seconds, and we store 3.7 megabytes instead of a 161-megabyte table. All tested on the last two months of orders, which the model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kept 73% of lines. The biggest loss was guest checkouts with no customer ID, 23% of the data. I split by time: everything from 9 October 2011 is the test period, and for each returning customer the model must predict products they had never bought before. I kept products bought by at least 10 customers, which still covers 90% of those next purchases.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Truncated SVD before fitting anything, because the table is 98% empty and SVD works on it directly. Then I ran PCA on the same matrix to check. Accuracy is a tie, 40.4 vs 40.0, well within noise. But PCA is three times slower and needs the full centred table to make suggestions, which is exactly what we're trying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I learned most from. My first version used cosine similarity and lost to the best sellers, 23.6 against 26.9. Cosine makes every product vector the same length, so popularity disappears, and in a Christmas test period popularity matters a lot. Scoring with the dot product, which is just the rebuilt purchase table, fixed it: 40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first pattern is just buying volume, I scaled each customer to remove volume, then grouped them with k-means and named each group from the products it buys much more than average. The groups overlap a lot, so marketing should treat them as each shop's main interest. [Optional: show reports/ml6_customer_map.png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the main risks are new customers, seasonality, repetitive lists, and the fact that I tuned on the test months. The first next step I'd recommend is a live A/B test on a share of product pages.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400" b="1" dirty="0">
                <a:solidFill>
                  <a:schemeClr val="bg1"/>
                </a:solidFill>
              </a:rPr>
              <a:t>Customers Like You</a:t>
            </a:r>
            <a:endParaRPr lang="en-US" sz="44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algn="l" indent="0" marL="0">
              <a:buNone/>
            </a:pPr>
            <a:r>
              <a:rPr lang="en-US" sz="1800" dirty="0">
                <a:solidFill>
                  <a:schemeClr val="bg2"/>
                </a:solidFill>
              </a:rPr>
              <a:t>Better product suggestions and six customer groups for GiftLane</a:t>
            </a:r>
            <a:endParaRPr lang="en-US" sz="1800" dirty="0"/>
          </a:p>
          <a:p>
            <a:pPr algn="l" indent="0" marL="0">
              <a:buNone/>
            </a:pPr>
            <a:r>
              <a:rPr lang="en-US" sz="1400" dirty="0">
                <a:solidFill>
                  <a:schemeClr val="accent6"/>
                </a:solidFill>
              </a:rPr>
              <a:t>Aditya Vishwanath · DS5020 Mini-Project · PCA or SVD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Better suggestions, built in seconds, stored in MB</a:t>
            </a:r>
            <a:endParaRPr lang="en-US" sz="2600" dirty="0"/>
          </a:p>
        </p:txBody>
      </p:sp>
      <p:sp>
        <p:nvSpPr>
          <p:cNvPr id="3" name="stat-card-0"/>
          <p:cNvSpPr/>
          <p:nvPr/>
        </p:nvSpPr>
        <p:spPr>
          <a:xfrm>
            <a:off x="457200" y="1234440"/>
            <a:ext cx="2560320" cy="2743200"/>
          </a:xfrm>
          <a:prstGeom prst="roundRect">
            <a:avLst>
              <a:gd name="adj" fmla="val 4286"/>
            </a:avLst>
          </a:prstGeom>
          <a:solidFill>
            <a:schemeClr val="bg2"/>
          </a:solidFill>
          <a:ln w="12700">
            <a:solidFill>
              <a:schemeClr val="bg2"/>
            </a:solidFill>
            <a:prstDash val="solid"/>
          </a:ln>
        </p:spPr>
      </p:sp>
      <p:sp>
        <p:nvSpPr>
          <p:cNvPr id="4" name="stat-0"/>
          <p:cNvSpPr txBox="1"/>
          <p:nvPr/>
        </p:nvSpPr>
        <p:spPr>
          <a:xfrm>
            <a:off x="685800" y="1417320"/>
            <a:ext cx="210312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40%</a:t>
            </a:r>
            <a:endParaRPr lang="en-US" sz="4800" dirty="0"/>
          </a:p>
        </p:txBody>
      </p:sp>
      <p:sp>
        <p:nvSpPr>
          <p:cNvPr id="5" name="Text 3"/>
          <p:cNvSpPr txBox="1"/>
          <p:nvPr/>
        </p:nvSpPr>
        <p:spPr>
          <a:xfrm>
            <a:off x="685800" y="2286000"/>
            <a:ext cx="2103120" cy="365760"/>
          </a:xfrm>
          <a:prstGeom prst="rect">
            <a:avLst/>
          </a:prstGeom>
          <a:noFill/>
          <a:ln/>
        </p:spPr>
        <p:txBody>
          <a:bodyPr wrap="square" lIns="0" tIns="0" rIns="0" bIns="0" rtlCol="0" anchor="ctr"/>
          <a:lstStyle/>
          <a:p>
            <a:pPr indent="0" marL="0">
              <a:buNone/>
            </a:pPr>
            <a:r>
              <a:rPr lang="en-US" sz="1600" b="1" dirty="0">
                <a:solidFill>
                  <a:schemeClr val="tx2"/>
                </a:solidFill>
              </a:rPr>
              <a:t>vs 27%</a:t>
            </a:r>
            <a:endParaRPr lang="en-US" sz="1600" dirty="0"/>
          </a:p>
        </p:txBody>
      </p:sp>
      <p:sp>
        <p:nvSpPr>
          <p:cNvPr id="6" name="Text 4"/>
          <p:cNvSpPr txBox="1"/>
          <p:nvPr/>
        </p:nvSpPr>
        <p:spPr>
          <a:xfrm>
            <a:off x="685800" y="2697480"/>
            <a:ext cx="2103120" cy="1097280"/>
          </a:xfrm>
          <a:prstGeom prst="rect">
            <a:avLst/>
          </a:prstGeom>
          <a:noFill/>
          <a:ln/>
        </p:spPr>
        <p:txBody>
          <a:bodyPr wrap="square" lIns="0" tIns="0" rIns="0" bIns="0" rtlCol="0" anchor="t"/>
          <a:lstStyle/>
          <a:p>
            <a:pPr indent="0" marL="0">
              <a:buNone/>
            </a:pPr>
            <a:r>
              <a:rPr lang="en-US" sz="1400" dirty="0">
                <a:solidFill>
                  <a:schemeClr val="tx1"/>
                </a:solidFill>
              </a:rPr>
              <a:t>of customers get a correct suggestion in their top 10, vs a best-seller list</a:t>
            </a:r>
            <a:endParaRPr lang="en-US" sz="1400" dirty="0"/>
          </a:p>
        </p:txBody>
      </p:sp>
      <p:sp>
        <p:nvSpPr>
          <p:cNvPr id="7" name="stat-card-1"/>
          <p:cNvSpPr/>
          <p:nvPr/>
        </p:nvSpPr>
        <p:spPr>
          <a:xfrm>
            <a:off x="3291840" y="1234440"/>
            <a:ext cx="2560320" cy="2743200"/>
          </a:xfrm>
          <a:prstGeom prst="roundRect">
            <a:avLst>
              <a:gd name="adj" fmla="val 4286"/>
            </a:avLst>
          </a:prstGeom>
          <a:solidFill>
            <a:schemeClr val="bg2"/>
          </a:solidFill>
          <a:ln w="12700">
            <a:solidFill>
              <a:schemeClr val="bg2"/>
            </a:solidFill>
            <a:prstDash val="solid"/>
          </a:ln>
        </p:spPr>
      </p:sp>
      <p:sp>
        <p:nvSpPr>
          <p:cNvPr id="8" name="stat-1"/>
          <p:cNvSpPr txBox="1"/>
          <p:nvPr/>
        </p:nvSpPr>
        <p:spPr>
          <a:xfrm>
            <a:off x="3520440" y="1417320"/>
            <a:ext cx="210312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3.5 s</a:t>
            </a:r>
            <a:endParaRPr lang="en-US" sz="4800" dirty="0"/>
          </a:p>
        </p:txBody>
      </p:sp>
      <p:sp>
        <p:nvSpPr>
          <p:cNvPr id="9" name="Text 7"/>
          <p:cNvSpPr txBox="1"/>
          <p:nvPr/>
        </p:nvSpPr>
        <p:spPr>
          <a:xfrm>
            <a:off x="3520440" y="2286000"/>
            <a:ext cx="2103120" cy="365760"/>
          </a:xfrm>
          <a:prstGeom prst="rect">
            <a:avLst/>
          </a:prstGeom>
          <a:noFill/>
          <a:ln/>
        </p:spPr>
        <p:txBody>
          <a:bodyPr wrap="square" lIns="0" tIns="0" rIns="0" bIns="0" rtlCol="0" anchor="ctr"/>
          <a:lstStyle/>
          <a:p>
            <a:pPr indent="0" marL="0">
              <a:buNone/>
            </a:pPr>
            <a:r>
              <a:rPr lang="en-US" sz="1600" b="1" dirty="0">
                <a:solidFill>
                  <a:schemeClr val="tx2"/>
                </a:solidFill>
              </a:rPr>
              <a:t>full nightly job</a:t>
            </a:r>
            <a:endParaRPr lang="en-US" sz="1600" dirty="0"/>
          </a:p>
        </p:txBody>
      </p:sp>
      <p:sp>
        <p:nvSpPr>
          <p:cNvPr id="10" name="Text 8"/>
          <p:cNvSpPr txBox="1"/>
          <p:nvPr/>
        </p:nvSpPr>
        <p:spPr>
          <a:xfrm>
            <a:off x="3520440" y="2697480"/>
            <a:ext cx="2103120" cy="1097280"/>
          </a:xfrm>
          <a:prstGeom prst="rect">
            <a:avLst/>
          </a:prstGeom>
          <a:noFill/>
          <a:ln/>
        </p:spPr>
        <p:txBody>
          <a:bodyPr wrap="square" lIns="0" tIns="0" rIns="0" bIns="0" rtlCol="0" anchor="t"/>
          <a:lstStyle/>
          <a:p>
            <a:pPr indent="0" marL="0">
              <a:buNone/>
            </a:pPr>
            <a:r>
              <a:rPr lang="en-US" sz="1400" dirty="0">
                <a:solidFill>
                  <a:schemeClr val="tx1"/>
                </a:solidFill>
              </a:rPr>
              <a:t>patterns + 'also bought' for 3,687 products + lists for 5,473 customers</a:t>
            </a:r>
            <a:endParaRPr lang="en-US" sz="1400" dirty="0"/>
          </a:p>
        </p:txBody>
      </p:sp>
      <p:sp>
        <p:nvSpPr>
          <p:cNvPr id="11" name="stat-card-2"/>
          <p:cNvSpPr/>
          <p:nvPr/>
        </p:nvSpPr>
        <p:spPr>
          <a:xfrm>
            <a:off x="6126480" y="1234440"/>
            <a:ext cx="2560320" cy="2743200"/>
          </a:xfrm>
          <a:prstGeom prst="roundRect">
            <a:avLst>
              <a:gd name="adj" fmla="val 4286"/>
            </a:avLst>
          </a:prstGeom>
          <a:solidFill>
            <a:schemeClr val="bg2"/>
          </a:solidFill>
          <a:ln w="12700">
            <a:solidFill>
              <a:schemeClr val="bg2"/>
            </a:solidFill>
            <a:prstDash val="solid"/>
          </a:ln>
        </p:spPr>
      </p:sp>
      <p:sp>
        <p:nvSpPr>
          <p:cNvPr id="12" name="stat-2"/>
          <p:cNvSpPr txBox="1"/>
          <p:nvPr/>
        </p:nvSpPr>
        <p:spPr>
          <a:xfrm>
            <a:off x="6355080" y="1417320"/>
            <a:ext cx="210312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3.7 MB</a:t>
            </a:r>
            <a:endParaRPr lang="en-US" sz="4800" dirty="0"/>
          </a:p>
        </p:txBody>
      </p:sp>
      <p:sp>
        <p:nvSpPr>
          <p:cNvPr id="13" name="Text 11"/>
          <p:cNvSpPr txBox="1"/>
          <p:nvPr/>
        </p:nvSpPr>
        <p:spPr>
          <a:xfrm>
            <a:off x="6355080" y="2286000"/>
            <a:ext cx="2103120" cy="365760"/>
          </a:xfrm>
          <a:prstGeom prst="rect">
            <a:avLst/>
          </a:prstGeom>
          <a:noFill/>
          <a:ln/>
        </p:spPr>
        <p:txBody>
          <a:bodyPr wrap="square" lIns="0" tIns="0" rIns="0" bIns="0" rtlCol="0" anchor="ctr"/>
          <a:lstStyle/>
          <a:p>
            <a:pPr indent="0" marL="0">
              <a:buNone/>
            </a:pPr>
            <a:r>
              <a:rPr lang="en-US" sz="1600" b="1" dirty="0">
                <a:solidFill>
                  <a:schemeClr val="tx2"/>
                </a:solidFill>
              </a:rPr>
              <a:t>vs 161 MB</a:t>
            </a:r>
            <a:endParaRPr lang="en-US" sz="1600" dirty="0"/>
          </a:p>
        </p:txBody>
      </p:sp>
      <p:sp>
        <p:nvSpPr>
          <p:cNvPr id="14" name="Text 12"/>
          <p:cNvSpPr txBox="1"/>
          <p:nvPr/>
        </p:nvSpPr>
        <p:spPr>
          <a:xfrm>
            <a:off x="6355080" y="2697480"/>
            <a:ext cx="2103120" cy="1097280"/>
          </a:xfrm>
          <a:prstGeom prst="rect">
            <a:avLst/>
          </a:prstGeom>
          <a:noFill/>
          <a:ln/>
        </p:spPr>
        <p:txBody>
          <a:bodyPr wrap="square" lIns="0" tIns="0" rIns="0" bIns="0" rtlCol="0" anchor="t"/>
          <a:lstStyle/>
          <a:p>
            <a:pPr indent="0" marL="0">
              <a:buNone/>
            </a:pPr>
            <a:r>
              <a:rPr lang="en-US" sz="1400" dirty="0">
                <a:solidFill>
                  <a:schemeClr val="tx1"/>
                </a:solidFill>
              </a:rPr>
              <a:t>stored model compared with the full customer × product table</a:t>
            </a:r>
            <a:endParaRPr lang="en-US" sz="1400" dirty="0"/>
          </a:p>
        </p:txBody>
      </p:sp>
      <p:sp>
        <p:nvSpPr>
          <p:cNvPr id="15" name="Text 13"/>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500" i="1" dirty="0">
                <a:solidFill>
                  <a:schemeClr val="tx2"/>
                </a:solidFill>
              </a:rPr>
              <a:t>Plus six named customer groups for marketing, with no customer IDs anywhere.</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From 1.07M invoice lines to a leak-free matrix</a:t>
            </a:r>
            <a:endParaRPr lang="en-US" sz="2600" dirty="0"/>
          </a:p>
        </p:txBody>
      </p:sp>
      <p:sp>
        <p:nvSpPr>
          <p:cNvPr id="3" name="step-0"/>
          <p:cNvSpPr/>
          <p:nvPr/>
        </p:nvSpPr>
        <p:spPr>
          <a:xfrm>
            <a:off x="457200" y="1188720"/>
            <a:ext cx="1783080" cy="1828800"/>
          </a:xfrm>
          <a:prstGeom prst="roundRect">
            <a:avLst>
              <a:gd name="adj" fmla="val 6154"/>
            </a:avLst>
          </a:prstGeom>
          <a:solidFill>
            <a:schemeClr val="bg2"/>
          </a:solidFill>
          <a:ln w="12700">
            <a:solidFill>
              <a:schemeClr val="bg2"/>
            </a:solidFill>
            <a:prstDash val="solid"/>
          </a:ln>
        </p:spPr>
      </p:sp>
      <p:sp>
        <p:nvSpPr>
          <p:cNvPr id="4" name="Text 2"/>
          <p:cNvSpPr txBox="1"/>
          <p:nvPr/>
        </p:nvSpPr>
        <p:spPr>
          <a:xfrm>
            <a:off x="566928" y="1298448"/>
            <a:ext cx="1563624" cy="502920"/>
          </a:xfrm>
          <a:prstGeom prst="rect">
            <a:avLst/>
          </a:prstGeom>
          <a:noFill/>
          <a:ln/>
        </p:spPr>
        <p:txBody>
          <a:bodyPr wrap="square" lIns="0" tIns="0" rIns="0" bIns="0" rtlCol="0" anchor="ctr"/>
          <a:lstStyle/>
          <a:p>
            <a:pPr indent="0" marL="0">
              <a:buNone/>
            </a:pPr>
            <a:r>
              <a:rPr lang="en-US" sz="1800" b="1" dirty="0">
                <a:solidFill>
                  <a:schemeClr val="accent2"/>
                </a:solidFill>
              </a:rPr>
              <a:t>1,067,371</a:t>
            </a:r>
            <a:endParaRPr lang="en-US" sz="1800" dirty="0"/>
          </a:p>
        </p:txBody>
      </p:sp>
      <p:sp>
        <p:nvSpPr>
          <p:cNvPr id="5" name="Text 3"/>
          <p:cNvSpPr txBox="1"/>
          <p:nvPr/>
        </p:nvSpPr>
        <p:spPr>
          <a:xfrm>
            <a:off x="566928" y="1801368"/>
            <a:ext cx="1563624" cy="320040"/>
          </a:xfrm>
          <a:prstGeom prst="rect">
            <a:avLst/>
          </a:prstGeom>
          <a:noFill/>
          <a:ln/>
        </p:spPr>
        <p:txBody>
          <a:bodyPr wrap="square" lIns="0" tIns="0" rIns="0" bIns="0" rtlCol="0" anchor="ctr"/>
          <a:lstStyle/>
          <a:p>
            <a:pPr indent="0" marL="0">
              <a:buNone/>
            </a:pPr>
            <a:r>
              <a:rPr lang="en-US" sz="1400" b="1" dirty="0">
                <a:solidFill>
                  <a:schemeClr val="tx2"/>
                </a:solidFill>
              </a:rPr>
              <a:t>raw lines</a:t>
            </a:r>
            <a:endParaRPr lang="en-US" sz="1400" dirty="0"/>
          </a:p>
        </p:txBody>
      </p:sp>
      <p:sp>
        <p:nvSpPr>
          <p:cNvPr id="6" name="Text 4"/>
          <p:cNvSpPr txBox="1"/>
          <p:nvPr/>
        </p:nvSpPr>
        <p:spPr>
          <a:xfrm>
            <a:off x="566928" y="2148840"/>
            <a:ext cx="1563624" cy="777240"/>
          </a:xfrm>
          <a:prstGeom prst="rect">
            <a:avLst/>
          </a:prstGeom>
          <a:noFill/>
          <a:ln/>
        </p:spPr>
        <p:txBody>
          <a:bodyPr wrap="square" lIns="0" tIns="0" rIns="0" bIns="0" rtlCol="0" anchor="t"/>
          <a:lstStyle/>
          <a:p>
            <a:pPr indent="0" marL="0">
              <a:buNone/>
            </a:pPr>
            <a:r>
              <a:rPr lang="en-US" sz="1100" dirty="0">
                <a:solidFill>
                  <a:schemeClr val="tx1"/>
                </a:solidFill>
              </a:rPr>
              <a:t>two Excel sheets, Dec 2009 – Dec 2011</a:t>
            </a:r>
            <a:endParaRPr lang="en-US" sz="1100" dirty="0"/>
          </a:p>
        </p:txBody>
      </p:sp>
      <p:sp>
        <p:nvSpPr>
          <p:cNvPr id="7" name="arrow-0"/>
          <p:cNvSpPr/>
          <p:nvPr/>
        </p:nvSpPr>
        <p:spPr>
          <a:xfrm>
            <a:off x="2286000" y="1965960"/>
            <a:ext cx="246888" cy="274320"/>
          </a:xfrm>
          <a:prstGeom prst="rightArrow">
            <a:avLst/>
          </a:prstGeom>
          <a:solidFill>
            <a:schemeClr val="accent3"/>
          </a:solidFill>
          <a:ln w="12700">
            <a:solidFill>
              <a:schemeClr val="accent3"/>
            </a:solidFill>
            <a:prstDash val="solid"/>
          </a:ln>
        </p:spPr>
      </p:sp>
      <p:sp>
        <p:nvSpPr>
          <p:cNvPr id="8" name="step-1"/>
          <p:cNvSpPr/>
          <p:nvPr/>
        </p:nvSpPr>
        <p:spPr>
          <a:xfrm>
            <a:off x="2578608" y="1188720"/>
            <a:ext cx="1783080" cy="1828800"/>
          </a:xfrm>
          <a:prstGeom prst="roundRect">
            <a:avLst>
              <a:gd name="adj" fmla="val 6154"/>
            </a:avLst>
          </a:prstGeom>
          <a:solidFill>
            <a:schemeClr val="bg2"/>
          </a:solidFill>
          <a:ln w="12700">
            <a:solidFill>
              <a:schemeClr val="bg2"/>
            </a:solidFill>
            <a:prstDash val="solid"/>
          </a:ln>
        </p:spPr>
      </p:sp>
      <p:sp>
        <p:nvSpPr>
          <p:cNvPr id="9" name="Text 7"/>
          <p:cNvSpPr txBox="1"/>
          <p:nvPr/>
        </p:nvSpPr>
        <p:spPr>
          <a:xfrm>
            <a:off x="2688336" y="1298448"/>
            <a:ext cx="1563624" cy="502920"/>
          </a:xfrm>
          <a:prstGeom prst="rect">
            <a:avLst/>
          </a:prstGeom>
          <a:noFill/>
          <a:ln/>
        </p:spPr>
        <p:txBody>
          <a:bodyPr wrap="square" lIns="0" tIns="0" rIns="0" bIns="0" rtlCol="0" anchor="ctr"/>
          <a:lstStyle/>
          <a:p>
            <a:pPr indent="0" marL="0">
              <a:buNone/>
            </a:pPr>
            <a:r>
              <a:rPr lang="en-US" sz="1800" b="1" dirty="0">
                <a:solidFill>
                  <a:schemeClr val="accent2"/>
                </a:solidFill>
              </a:rPr>
              <a:t>776,577</a:t>
            </a:r>
            <a:endParaRPr lang="en-US" sz="1800" dirty="0"/>
          </a:p>
        </p:txBody>
      </p:sp>
      <p:sp>
        <p:nvSpPr>
          <p:cNvPr id="10" name="Text 8"/>
          <p:cNvSpPr txBox="1"/>
          <p:nvPr/>
        </p:nvSpPr>
        <p:spPr>
          <a:xfrm>
            <a:off x="2688336" y="1801368"/>
            <a:ext cx="1563624" cy="320040"/>
          </a:xfrm>
          <a:prstGeom prst="rect">
            <a:avLst/>
          </a:prstGeom>
          <a:noFill/>
          <a:ln/>
        </p:spPr>
        <p:txBody>
          <a:bodyPr wrap="square" lIns="0" tIns="0" rIns="0" bIns="0" rtlCol="0" anchor="ctr"/>
          <a:lstStyle/>
          <a:p>
            <a:pPr indent="0" marL="0">
              <a:buNone/>
            </a:pPr>
            <a:r>
              <a:rPr lang="en-US" sz="1400" b="1" dirty="0">
                <a:solidFill>
                  <a:schemeClr val="tx2"/>
                </a:solidFill>
              </a:rPr>
              <a:t>clean lines</a:t>
            </a:r>
            <a:endParaRPr lang="en-US" sz="1400" dirty="0"/>
          </a:p>
        </p:txBody>
      </p:sp>
      <p:sp>
        <p:nvSpPr>
          <p:cNvPr id="11" name="Text 9"/>
          <p:cNvSpPr txBox="1"/>
          <p:nvPr/>
        </p:nvSpPr>
        <p:spPr>
          <a:xfrm>
            <a:off x="2688336" y="2148840"/>
            <a:ext cx="1563624" cy="777240"/>
          </a:xfrm>
          <a:prstGeom prst="rect">
            <a:avLst/>
          </a:prstGeom>
          <a:noFill/>
          <a:ln/>
        </p:spPr>
        <p:txBody>
          <a:bodyPr wrap="square" lIns="0" tIns="0" rIns="0" bIns="0" rtlCol="0" anchor="t"/>
          <a:lstStyle/>
          <a:p>
            <a:pPr indent="0" marL="0">
              <a:buNone/>
            </a:pPr>
            <a:r>
              <a:rPr lang="en-US" sz="1100" dirty="0">
                <a:solidFill>
                  <a:schemeClr val="tx1"/>
                </a:solidFill>
              </a:rPr>
              <a:t>cancellations, guests, fees, duplicates removed</a:t>
            </a:r>
            <a:endParaRPr lang="en-US" sz="1100" dirty="0"/>
          </a:p>
        </p:txBody>
      </p:sp>
      <p:sp>
        <p:nvSpPr>
          <p:cNvPr id="12" name="arrow-1"/>
          <p:cNvSpPr/>
          <p:nvPr/>
        </p:nvSpPr>
        <p:spPr>
          <a:xfrm>
            <a:off x="4407408" y="1965960"/>
            <a:ext cx="246888" cy="274320"/>
          </a:xfrm>
          <a:prstGeom prst="rightArrow">
            <a:avLst/>
          </a:prstGeom>
          <a:solidFill>
            <a:schemeClr val="accent3"/>
          </a:solidFill>
          <a:ln w="12700">
            <a:solidFill>
              <a:schemeClr val="accent3"/>
            </a:solidFill>
            <a:prstDash val="solid"/>
          </a:ln>
        </p:spPr>
      </p:sp>
      <p:sp>
        <p:nvSpPr>
          <p:cNvPr id="13" name="step-2"/>
          <p:cNvSpPr/>
          <p:nvPr/>
        </p:nvSpPr>
        <p:spPr>
          <a:xfrm>
            <a:off x="4700016" y="1188720"/>
            <a:ext cx="1783080" cy="1828800"/>
          </a:xfrm>
          <a:prstGeom prst="roundRect">
            <a:avLst>
              <a:gd name="adj" fmla="val 6154"/>
            </a:avLst>
          </a:prstGeom>
          <a:solidFill>
            <a:schemeClr val="bg2"/>
          </a:solidFill>
          <a:ln w="12700">
            <a:solidFill>
              <a:schemeClr val="bg2"/>
            </a:solidFill>
            <a:prstDash val="solid"/>
          </a:ln>
        </p:spPr>
      </p:sp>
      <p:sp>
        <p:nvSpPr>
          <p:cNvPr id="14" name="Text 12"/>
          <p:cNvSpPr txBox="1"/>
          <p:nvPr/>
        </p:nvSpPr>
        <p:spPr>
          <a:xfrm>
            <a:off x="4809744" y="1298448"/>
            <a:ext cx="1563624" cy="502920"/>
          </a:xfrm>
          <a:prstGeom prst="rect">
            <a:avLst/>
          </a:prstGeom>
          <a:noFill/>
          <a:ln/>
        </p:spPr>
        <p:txBody>
          <a:bodyPr wrap="square" lIns="0" tIns="0" rIns="0" bIns="0" rtlCol="0" anchor="ctr"/>
          <a:lstStyle/>
          <a:p>
            <a:pPr indent="0" marL="0">
              <a:buNone/>
            </a:pPr>
            <a:r>
              <a:rPr lang="en-US" sz="1800" b="1" dirty="0">
                <a:solidFill>
                  <a:schemeClr val="accent2"/>
                </a:solidFill>
              </a:rPr>
              <a:t>9 Oct 2011</a:t>
            </a:r>
            <a:endParaRPr lang="en-US" sz="1800" dirty="0"/>
          </a:p>
        </p:txBody>
      </p:sp>
      <p:sp>
        <p:nvSpPr>
          <p:cNvPr id="15" name="Text 13"/>
          <p:cNvSpPr txBox="1"/>
          <p:nvPr/>
        </p:nvSpPr>
        <p:spPr>
          <a:xfrm>
            <a:off x="4809744" y="1801368"/>
            <a:ext cx="1563624" cy="320040"/>
          </a:xfrm>
          <a:prstGeom prst="rect">
            <a:avLst/>
          </a:prstGeom>
          <a:noFill/>
          <a:ln/>
        </p:spPr>
        <p:txBody>
          <a:bodyPr wrap="square" lIns="0" tIns="0" rIns="0" bIns="0" rtlCol="0" anchor="ctr"/>
          <a:lstStyle/>
          <a:p>
            <a:pPr indent="0" marL="0">
              <a:buNone/>
            </a:pPr>
            <a:r>
              <a:rPr lang="en-US" sz="1400" b="1" dirty="0">
                <a:solidFill>
                  <a:schemeClr val="tx2"/>
                </a:solidFill>
              </a:rPr>
              <a:t>time split</a:t>
            </a:r>
            <a:endParaRPr lang="en-US" sz="1400" dirty="0"/>
          </a:p>
        </p:txBody>
      </p:sp>
      <p:sp>
        <p:nvSpPr>
          <p:cNvPr id="16" name="Text 14"/>
          <p:cNvSpPr txBox="1"/>
          <p:nvPr/>
        </p:nvSpPr>
        <p:spPr>
          <a:xfrm>
            <a:off x="4809744" y="2148840"/>
            <a:ext cx="1563624" cy="777240"/>
          </a:xfrm>
          <a:prstGeom prst="rect">
            <a:avLst/>
          </a:prstGeom>
          <a:noFill/>
          <a:ln/>
        </p:spPr>
        <p:txBody>
          <a:bodyPr wrap="square" lIns="0" tIns="0" rIns="0" bIns="0" rtlCol="0" anchor="t"/>
          <a:lstStyle/>
          <a:p>
            <a:pPr indent="0" marL="0">
              <a:buNone/>
            </a:pPr>
            <a:r>
              <a:rPr lang="en-US" sz="1100" dirty="0">
                <a:solidFill>
                  <a:schemeClr val="tx1"/>
                </a:solidFill>
              </a:rPr>
              <a:t>last 2 months held out; model never sees them</a:t>
            </a:r>
            <a:endParaRPr lang="en-US" sz="1100" dirty="0"/>
          </a:p>
        </p:txBody>
      </p:sp>
      <p:sp>
        <p:nvSpPr>
          <p:cNvPr id="17" name="arrow-2"/>
          <p:cNvSpPr/>
          <p:nvPr/>
        </p:nvSpPr>
        <p:spPr>
          <a:xfrm>
            <a:off x="6528816" y="1965960"/>
            <a:ext cx="246888" cy="274320"/>
          </a:xfrm>
          <a:prstGeom prst="rightArrow">
            <a:avLst/>
          </a:prstGeom>
          <a:solidFill>
            <a:schemeClr val="accent3"/>
          </a:solidFill>
          <a:ln w="12700">
            <a:solidFill>
              <a:schemeClr val="accent3"/>
            </a:solidFill>
            <a:prstDash val="solid"/>
          </a:ln>
        </p:spPr>
      </p:sp>
      <p:sp>
        <p:nvSpPr>
          <p:cNvPr id="18" name="step-3"/>
          <p:cNvSpPr/>
          <p:nvPr/>
        </p:nvSpPr>
        <p:spPr>
          <a:xfrm>
            <a:off x="6821424" y="1188720"/>
            <a:ext cx="1783080" cy="1828800"/>
          </a:xfrm>
          <a:prstGeom prst="roundRect">
            <a:avLst>
              <a:gd name="adj" fmla="val 6154"/>
            </a:avLst>
          </a:prstGeom>
          <a:solidFill>
            <a:schemeClr val="accent1"/>
          </a:solidFill>
          <a:ln w="12700">
            <a:solidFill>
              <a:schemeClr val="accent1"/>
            </a:solidFill>
            <a:prstDash val="solid"/>
          </a:ln>
        </p:spPr>
      </p:sp>
      <p:sp>
        <p:nvSpPr>
          <p:cNvPr id="19" name="Text 17"/>
          <p:cNvSpPr txBox="1"/>
          <p:nvPr/>
        </p:nvSpPr>
        <p:spPr>
          <a:xfrm>
            <a:off x="6931152" y="1298448"/>
            <a:ext cx="1563624" cy="502920"/>
          </a:xfrm>
          <a:prstGeom prst="rect">
            <a:avLst/>
          </a:prstGeom>
          <a:noFill/>
          <a:ln/>
        </p:spPr>
        <p:txBody>
          <a:bodyPr wrap="square" lIns="0" tIns="0" rIns="0" bIns="0" rtlCol="0" anchor="ctr"/>
          <a:lstStyle/>
          <a:p>
            <a:pPr indent="0" marL="0">
              <a:buNone/>
            </a:pPr>
            <a:r>
              <a:rPr lang="en-US" sz="1800" b="1" dirty="0">
                <a:solidFill>
                  <a:schemeClr val="bg1"/>
                </a:solidFill>
              </a:rPr>
              <a:t>5,473 × 3,687</a:t>
            </a:r>
            <a:endParaRPr lang="en-US" sz="1800" dirty="0"/>
          </a:p>
        </p:txBody>
      </p:sp>
      <p:sp>
        <p:nvSpPr>
          <p:cNvPr id="20" name="Text 18"/>
          <p:cNvSpPr txBox="1"/>
          <p:nvPr/>
        </p:nvSpPr>
        <p:spPr>
          <a:xfrm>
            <a:off x="6931152" y="1801368"/>
            <a:ext cx="1563624" cy="320040"/>
          </a:xfrm>
          <a:prstGeom prst="rect">
            <a:avLst/>
          </a:prstGeom>
          <a:noFill/>
          <a:ln/>
        </p:spPr>
        <p:txBody>
          <a:bodyPr wrap="square" lIns="0" tIns="0" rIns="0" bIns="0" rtlCol="0" anchor="ctr"/>
          <a:lstStyle/>
          <a:p>
            <a:pPr indent="0" marL="0">
              <a:buNone/>
            </a:pPr>
            <a:r>
              <a:rPr lang="en-US" sz="1400" b="1" dirty="0">
                <a:solidFill>
                  <a:schemeClr val="bg1"/>
                </a:solidFill>
              </a:rPr>
              <a:t>sparse matrix</a:t>
            </a:r>
            <a:endParaRPr lang="en-US" sz="1400" dirty="0"/>
          </a:p>
        </p:txBody>
      </p:sp>
      <p:sp>
        <p:nvSpPr>
          <p:cNvPr id="21" name="Text 19"/>
          <p:cNvSpPr txBox="1"/>
          <p:nvPr/>
        </p:nvSpPr>
        <p:spPr>
          <a:xfrm>
            <a:off x="6931152" y="2148840"/>
            <a:ext cx="1563624" cy="777240"/>
          </a:xfrm>
          <a:prstGeom prst="rect">
            <a:avLst/>
          </a:prstGeom>
          <a:noFill/>
          <a:ln/>
        </p:spPr>
        <p:txBody>
          <a:bodyPr wrap="square" lIns="0" tIns="0" rIns="0" bIns="0" rtlCol="0" anchor="t"/>
          <a:lstStyle/>
          <a:p>
            <a:pPr indent="0" marL="0">
              <a:buNone/>
            </a:pPr>
            <a:r>
              <a:rPr lang="en-US" sz="1100" dirty="0">
                <a:solidFill>
                  <a:schemeClr val="bg2"/>
                </a:solidFill>
              </a:rPr>
              <a:t>97.95% empty · 5 MB sparse vs 161 MB dense</a:t>
            </a:r>
            <a:endParaRPr lang="en-US" sz="1100" dirty="0"/>
          </a:p>
        </p:txBody>
      </p:sp>
      <p:sp>
        <p:nvSpPr>
          <p:cNvPr id="22" name="catch-card"/>
          <p:cNvSpPr/>
          <p:nvPr/>
        </p:nvSpPr>
        <p:spPr>
          <a:xfrm>
            <a:off x="457200" y="3291840"/>
            <a:ext cx="3977640" cy="1234440"/>
          </a:xfrm>
          <a:prstGeom prst="roundRect">
            <a:avLst>
              <a:gd name="adj" fmla="val 8889"/>
            </a:avLst>
          </a:prstGeom>
          <a:solidFill>
            <a:schemeClr val="bg2"/>
          </a:solidFill>
          <a:ln w="12700">
            <a:solidFill>
              <a:schemeClr val="bg2"/>
            </a:solidFill>
            <a:prstDash val="solid"/>
          </a:ln>
        </p:spPr>
      </p:sp>
      <p:sp>
        <p:nvSpPr>
          <p:cNvPr id="23" name="Text 21"/>
          <p:cNvSpPr txBox="1"/>
          <p:nvPr/>
        </p:nvSpPr>
        <p:spPr>
          <a:xfrm>
            <a:off x="640080" y="3383280"/>
            <a:ext cx="3611880" cy="1051560"/>
          </a:xfrm>
          <a:prstGeom prst="rect">
            <a:avLst/>
          </a:prstGeom>
          <a:noFill/>
          <a:ln/>
        </p:spPr>
        <p:txBody>
          <a:bodyPr wrap="square" lIns="0" tIns="0" rIns="0" bIns="0" rtlCol="0" anchor="t"/>
          <a:lstStyle/>
          <a:p>
            <a:pPr indent="0" marL="0">
              <a:buNone/>
            </a:pPr>
            <a:r>
              <a:rPr lang="en-US" sz="1300" b="1" dirty="0">
                <a:solidFill>
                  <a:schemeClr val="tx2"/>
                </a:solidFill>
              </a:rPr>
              <a:t>A hidden data issue I caught</a:t>
            </a:r>
            <a:endParaRPr lang="en-US" sz="1300" dirty="0"/>
          </a:p>
          <a:p>
            <a:pPr indent="0" marL="0">
              <a:buNone/>
            </a:pPr>
            <a:r>
              <a:rPr lang="en-US" sz="1300" dirty="0">
                <a:solidFill>
                  <a:schemeClr val="tx1"/>
                </a:solidFill>
              </a:rPr>
              <a:t>'47503J' and '47503J ' (trailing space) were stored as two products. Stripping spaces merged them and stopped real rows being dropped.</a:t>
            </a:r>
            <a:endParaRPr lang="en-US" sz="1300" dirty="0"/>
          </a:p>
        </p:txBody>
      </p:sp>
      <p:sp>
        <p:nvSpPr>
          <p:cNvPr id="24" name="repro-card"/>
          <p:cNvSpPr/>
          <p:nvPr/>
        </p:nvSpPr>
        <p:spPr>
          <a:xfrm>
            <a:off x="4709160" y="3291840"/>
            <a:ext cx="3977640" cy="1234440"/>
          </a:xfrm>
          <a:prstGeom prst="roundRect">
            <a:avLst>
              <a:gd name="adj" fmla="val 8889"/>
            </a:avLst>
          </a:prstGeom>
          <a:solidFill>
            <a:schemeClr val="bg2"/>
          </a:solidFill>
          <a:ln w="12700">
            <a:solidFill>
              <a:schemeClr val="bg2"/>
            </a:solidFill>
            <a:prstDash val="solid"/>
          </a:ln>
        </p:spPr>
      </p:sp>
      <p:sp>
        <p:nvSpPr>
          <p:cNvPr id="25" name="Text 23"/>
          <p:cNvSpPr txBox="1"/>
          <p:nvPr/>
        </p:nvSpPr>
        <p:spPr>
          <a:xfrm>
            <a:off x="4892040" y="3383280"/>
            <a:ext cx="3611880" cy="1051560"/>
          </a:xfrm>
          <a:prstGeom prst="rect">
            <a:avLst/>
          </a:prstGeom>
          <a:noFill/>
          <a:ln/>
        </p:spPr>
        <p:txBody>
          <a:bodyPr wrap="square" lIns="0" tIns="0" rIns="0" bIns="0" rtlCol="0" anchor="t"/>
          <a:lstStyle/>
          <a:p>
            <a:pPr indent="0" marL="0">
              <a:buNone/>
            </a:pPr>
            <a:r>
              <a:rPr lang="en-US" sz="1300" b="1" dirty="0">
                <a:solidFill>
                  <a:schemeClr val="tx2"/>
                </a:solidFill>
              </a:rPr>
              <a:t>Reproducible in one command</a:t>
            </a:r>
            <a:endParaRPr lang="en-US" sz="1300" dirty="0"/>
          </a:p>
          <a:p>
            <a:pPr indent="0" marL="0">
              <a:buNone/>
            </a:pPr>
            <a:r>
              <a:rPr lang="en-US" sz="1300" dirty="0">
                <a:solidFill>
                  <a:schemeClr val="tx1"/>
                </a:solidFill>
              </a:rPr>
              <a:t>build_matrix.py rebuilds everything from the raw file, and its matrix is identical to the notebook's. Every decision is in the decision log.</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PCA vs SVD: a tie, so I chose the faster one</a:t>
            </a:r>
            <a:endParaRPr lang="en-US" sz="2600" dirty="0"/>
          </a:p>
        </p:txBody>
      </p:sp>
      <p:graphicFrame>
        <p:nvGraphicFramePr>
          <p:cNvPr id="5" name="pca-svd-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103120"/>
                <a:gridCol w="1508760"/>
                <a:gridCol w="1508760"/>
              </a:tblGrid>
              <a:tr h="438912">
                <a:tc>
                  <a:txBody>
                    <a:bodyPr/>
                    <a:lstStyle/>
                    <a:p>
                      <a:pPr indent="0" marL="0">
                        <a:buNone/>
                      </a:pPr>
                      <a:r>
                        <a:rPr lang="en-US" sz="1200" b="1" dirty="0">
                          <a:solidFill>
                            <a:schemeClr val="bg1"/>
                          </a:solidFill>
                        </a:rPr>
                        <a:t>Measure (k = 50)</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PCA</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Truncated SVD</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accent1"/>
                    </a:solidFill>
                  </a:tcPr>
                </a:tc>
              </a:tr>
              <a:tr h="438912">
                <a:tc>
                  <a:txBody>
                    <a:bodyPr/>
                    <a:lstStyle/>
                    <a:p>
                      <a:pPr indent="0" marL="0">
                        <a:buNone/>
                      </a:pPr>
                      <a:r>
                        <a:rPr lang="en-US" sz="1200" dirty="0">
                          <a:solidFill>
                            <a:schemeClr val="tx1"/>
                          </a:solidFill>
                        </a:rPr>
                        <a:t>Hit rate at 10</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40.4%</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40.0%</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r>
              <a:tr h="438912">
                <a:tc>
                  <a:txBody>
                    <a:bodyPr/>
                    <a:lstStyle/>
                    <a:p>
                      <a:pPr indent="0" marL="0">
                        <a:buNone/>
                      </a:pPr>
                      <a:r>
                        <a:rPr lang="en-US" sz="1200" dirty="0">
                          <a:solidFill>
                            <a:schemeClr val="tx1"/>
                          </a:solidFill>
                        </a:rPr>
                        <a:t>Fit time</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3.3 s</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2"/>
                          </a:solidFill>
                        </a:rPr>
                        <a:t>1.1 s</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r>
              <a:tr h="438912">
                <a:tc>
                  <a:txBody>
                    <a:bodyPr/>
                    <a:lstStyle/>
                    <a:p>
                      <a:pPr indent="0" marL="0">
                        <a:buNone/>
                      </a:pPr>
                      <a:r>
                        <a:rPr lang="en-US" sz="1200" dirty="0">
                          <a:solidFill>
                            <a:schemeClr val="tx1"/>
                          </a:solidFill>
                        </a:rPr>
                        <a:t>Works on the sparse table</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Only with special solvers</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2"/>
                          </a:solidFill>
                        </a:rPr>
                        <a:t>Yes, natively</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r>
              <a:tr h="438912">
                <a:tc>
                  <a:txBody>
                    <a:bodyPr/>
                    <a:lstStyle/>
                    <a:p>
                      <a:pPr indent="0" marL="0">
                        <a:buNone/>
                      </a:pPr>
                      <a:r>
                        <a:rPr lang="en-US" sz="1200" dirty="0">
                          <a:solidFill>
                            <a:schemeClr val="tx1"/>
                          </a:solidFill>
                        </a:rPr>
                        <a:t>Needs the full 161 MB table to score</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Yes (centred data)</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2"/>
                          </a:solidFill>
                        </a:rPr>
                        <a:t>No</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r>
              <a:tr h="438912">
                <a:tc>
                  <a:txBody>
                    <a:bodyPr/>
                    <a:lstStyle/>
                    <a:p>
                      <a:pPr indent="0" marL="0">
                        <a:buNone/>
                      </a:pPr>
                      <a:r>
                        <a:rPr lang="en-US" sz="1200" dirty="0">
                          <a:solidFill>
                            <a:schemeClr val="tx1"/>
                          </a:solidFill>
                        </a:rPr>
                        <a:t>Component 1 means</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Buying volume (r = 0.98)</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Buying volume (r = 0.98)</a:t>
                      </a:r>
                      <a:endParaRPr lang="en-US" sz="1200" dirty="0"/>
                    </a:p>
                  </a:txBody>
                  <a:tcPr marL="91440" marR="91440" marT="45720" marB="45720" anchor="ctr">
                    <a:lnL w="6350" cap="flat" cmpd="sng" algn="ctr">
                      <a:solidFill>
                        <a:srgbClr val="D9CCD4"/>
                      </a:solidFill>
                      <a:prstDash val="solid"/>
                      <a:round/>
                      <a:headEnd type="none" w="med" len="med"/>
                      <a:tailEnd type="none" w="med" len="med"/>
                    </a:lnL>
                    <a:lnR w="6350" cap="flat" cmpd="sng" algn="ctr">
                      <a:solidFill>
                        <a:srgbClr val="D9CCD4"/>
                      </a:solidFill>
                      <a:prstDash val="solid"/>
                      <a:round/>
                      <a:headEnd type="none" w="med" len="med"/>
                      <a:tailEnd type="none" w="med" len="med"/>
                    </a:lnR>
                    <a:lnT w="6350" cap="flat" cmpd="sng" algn="ctr">
                      <a:solidFill>
                        <a:srgbClr val="D9CCD4"/>
                      </a:solidFill>
                      <a:prstDash val="solid"/>
                      <a:round/>
                      <a:headEnd type="none" w="med" len="med"/>
                      <a:tailEnd type="none" w="med" len="med"/>
                    </a:lnT>
                    <a:lnB w="6350" cap="flat" cmpd="sng" algn="ctr">
                      <a:solidFill>
                        <a:srgbClr val="D9CCD4"/>
                      </a:solidFill>
                      <a:prstDash val="solid"/>
                      <a:round/>
                      <a:headEnd type="none" w="med" len="med"/>
                      <a:tailEnd type="none" w="med" len="med"/>
                    </a:lnB>
                    <a:solidFill>
                      <a:schemeClr val="bg1"/>
                    </a:solidFill>
                  </a:tcPr>
                </a:tc>
              </a:tr>
            </a:tbl>
          </a:graphicData>
        </a:graphic>
      </p:graphicFrame>
      <p:sp>
        <p:nvSpPr>
          <p:cNvPr id="4" name="method-takeaway"/>
          <p:cNvSpPr/>
          <p:nvPr/>
        </p:nvSpPr>
        <p:spPr>
          <a:xfrm>
            <a:off x="5897880" y="1188720"/>
            <a:ext cx="2788920" cy="2240280"/>
          </a:xfrm>
          <a:prstGeom prst="roundRect">
            <a:avLst>
              <a:gd name="adj" fmla="val 4898"/>
            </a:avLst>
          </a:prstGeom>
          <a:solidFill>
            <a:schemeClr val="bg2"/>
          </a:solidFill>
          <a:ln w="12700">
            <a:solidFill>
              <a:schemeClr val="bg2"/>
            </a:solidFill>
            <a:prstDash val="solid"/>
          </a:ln>
        </p:spPr>
      </p:sp>
      <p:sp>
        <p:nvSpPr>
          <p:cNvPr id="5" name="Text 2"/>
          <p:cNvSpPr txBox="1"/>
          <p:nvPr/>
        </p:nvSpPr>
        <p:spPr>
          <a:xfrm>
            <a:off x="6080760" y="1325880"/>
            <a:ext cx="2423160" cy="2011680"/>
          </a:xfrm>
          <a:prstGeom prst="rect">
            <a:avLst/>
          </a:prstGeom>
          <a:noFill/>
          <a:ln/>
        </p:spPr>
        <p:txBody>
          <a:bodyPr wrap="square" lIns="0" tIns="0" rIns="0" bIns="0" rtlCol="0" anchor="t"/>
          <a:lstStyle/>
          <a:p>
            <a:pPr indent="0" marL="0">
              <a:buNone/>
            </a:pPr>
            <a:r>
              <a:rPr lang="en-US" sz="1300" b="1" dirty="0">
                <a:solidFill>
                  <a:schemeClr val="tx2"/>
                </a:solidFill>
              </a:rPr>
              <a:t>Why it's a tie</a:t>
            </a:r>
            <a:endParaRPr lang="en-US" sz="1300" dirty="0"/>
          </a:p>
          <a:p>
            <a:pPr indent="0" marL="0">
              <a:buNone/>
            </a:pPr>
            <a:r>
              <a:rPr lang="en-US" sz="1300" dirty="0">
                <a:solidFill>
                  <a:schemeClr val="tx1"/>
                </a:solidFill>
              </a:rPr>
              <a:t>In purchase data, the biggest way any customer differs from the average is buying more or less. So centring (PCA) finds the same first pattern as SVD.</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SVD wins on speed and on staying small.</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Cosine lost to best sellers; dot product won</a:t>
            </a:r>
            <a:endParaRPr lang="en-US" sz="2600" dirty="0"/>
          </a:p>
        </p:txBody>
      </p:sp>
      <p:graphicFrame>
        <p:nvGraphicFramePr>
          <p:cNvPr id="3" name="hit-rate-chart" descr=""/>
          <p:cNvGraphicFramePr/>
          <p:nvPr/>
        </p:nvGraphicFramePr>
        <p:xfrm>
          <a:off x="457200" y="1143000"/>
          <a:ext cx="4937760" cy="3474720"/>
        </p:xfrm>
        <a:graphic xmlns:a="http://schemas.openxmlformats.org/drawingml/2006/main">
          <a:graphicData uri="http://schemas.openxmlformats.org/drawingml/2006/chart">
            <c:chart xmlns:c="http://schemas.openxmlformats.org/drawingml/2006/chart" r:id="rId1"/>
          </a:graphicData>
        </a:graphic>
      </p:graphicFrame>
      <p:sp>
        <p:nvSpPr>
          <p:cNvPr id="4" name="pt-dot-0"/>
          <p:cNvSpPr/>
          <p:nvPr/>
        </p:nvSpPr>
        <p:spPr>
          <a:xfrm>
            <a:off x="5669280" y="1280160"/>
            <a:ext cx="384048" cy="384048"/>
          </a:xfrm>
          <a:prstGeom prst="ellipse">
            <a:avLst/>
          </a:prstGeom>
          <a:solidFill>
            <a:schemeClr val="accent2"/>
          </a:solidFill>
          <a:ln w="12700">
            <a:solidFill>
              <a:schemeClr val="accent2"/>
            </a:solidFill>
            <a:prstDash val="solid"/>
          </a:ln>
        </p:spPr>
      </p:sp>
      <p:sp>
        <p:nvSpPr>
          <p:cNvPr id="5" name="Text 2"/>
          <p:cNvSpPr txBox="1"/>
          <p:nvPr/>
        </p:nvSpPr>
        <p:spPr>
          <a:xfrm>
            <a:off x="566928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217920" y="1234440"/>
            <a:ext cx="2468880" cy="1005840"/>
          </a:xfrm>
          <a:prstGeom prst="rect">
            <a:avLst/>
          </a:prstGeom>
          <a:noFill/>
          <a:ln/>
        </p:spPr>
        <p:txBody>
          <a:bodyPr wrap="square" lIns="0" tIns="0" rIns="0" bIns="0" rtlCol="0" anchor="t"/>
          <a:lstStyle/>
          <a:p>
            <a:pPr indent="0" marL="0">
              <a:buNone/>
            </a:pPr>
            <a:r>
              <a:rPr lang="en-US" sz="1300" b="1" dirty="0">
                <a:solidFill>
                  <a:schemeClr val="tx2"/>
                </a:solidFill>
              </a:rPr>
              <a:t>Cosine ignores popularity</a:t>
            </a:r>
            <a:endParaRPr lang="en-US" sz="1300" dirty="0"/>
          </a:p>
          <a:p>
            <a:pPr indent="0" marL="0">
              <a:buNone/>
            </a:pPr>
            <a:r>
              <a:rPr lang="en-US" sz="1300" dirty="0">
                <a:solidFill>
                  <a:schemeClr val="tx1"/>
                </a:solidFill>
              </a:rPr>
              <a:t>A niche item bought by 12 shops counted as much as a hit bought by 2,000.</a:t>
            </a:r>
            <a:endParaRPr lang="en-US" sz="1300" dirty="0"/>
          </a:p>
        </p:txBody>
      </p:sp>
      <p:sp>
        <p:nvSpPr>
          <p:cNvPr id="7" name="pt-dot-1"/>
          <p:cNvSpPr/>
          <p:nvPr/>
        </p:nvSpPr>
        <p:spPr>
          <a:xfrm>
            <a:off x="5669280" y="2395728"/>
            <a:ext cx="384048" cy="384048"/>
          </a:xfrm>
          <a:prstGeom prst="ellipse">
            <a:avLst/>
          </a:prstGeom>
          <a:solidFill>
            <a:schemeClr val="accent2"/>
          </a:solidFill>
          <a:ln w="12700">
            <a:solidFill>
              <a:schemeClr val="accent2"/>
            </a:solidFill>
            <a:prstDash val="solid"/>
          </a:ln>
        </p:spPr>
      </p:sp>
      <p:sp>
        <p:nvSpPr>
          <p:cNvPr id="8" name="Text 5"/>
          <p:cNvSpPr txBox="1"/>
          <p:nvPr/>
        </p:nvSpPr>
        <p:spPr>
          <a:xfrm>
            <a:off x="566928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6217920" y="2350008"/>
            <a:ext cx="2468880" cy="1005840"/>
          </a:xfrm>
          <a:prstGeom prst="rect">
            <a:avLst/>
          </a:prstGeom>
          <a:noFill/>
          <a:ln/>
        </p:spPr>
        <p:txBody>
          <a:bodyPr wrap="square" lIns="0" tIns="0" rIns="0" bIns="0" rtlCol="0" anchor="t"/>
          <a:lstStyle/>
          <a:p>
            <a:pPr indent="0" marL="0">
              <a:buNone/>
            </a:pPr>
            <a:r>
              <a:rPr lang="en-US" sz="1300" b="1" dirty="0">
                <a:solidFill>
                  <a:schemeClr val="tx2"/>
                </a:solidFill>
              </a:rPr>
              <a:t>Dot product keeps it</a:t>
            </a:r>
            <a:endParaRPr lang="en-US" sz="1300" dirty="0"/>
          </a:p>
          <a:p>
            <a:pPr indent="0" marL="0">
              <a:buNone/>
            </a:pPr>
            <a:r>
              <a:rPr lang="en-US" sz="1300" dirty="0">
                <a:solidFill>
                  <a:schemeClr val="tx1"/>
                </a:solidFill>
              </a:rPr>
              <a:t>Scoring with the rebuilt table puts popular, fitting items first.</a:t>
            </a:r>
            <a:endParaRPr lang="en-US" sz="1300" dirty="0"/>
          </a:p>
        </p:txBody>
      </p:sp>
      <p:sp>
        <p:nvSpPr>
          <p:cNvPr id="10" name="pt-dot-2"/>
          <p:cNvSpPr/>
          <p:nvPr/>
        </p:nvSpPr>
        <p:spPr>
          <a:xfrm>
            <a:off x="5669280" y="3511296"/>
            <a:ext cx="384048" cy="384048"/>
          </a:xfrm>
          <a:prstGeom prst="ellipse">
            <a:avLst/>
          </a:prstGeom>
          <a:solidFill>
            <a:schemeClr val="accent2"/>
          </a:solidFill>
          <a:ln w="12700">
            <a:solidFill>
              <a:schemeClr val="accent2"/>
            </a:solidFill>
            <a:prstDash val="solid"/>
          </a:ln>
        </p:spPr>
      </p:sp>
      <p:sp>
        <p:nvSpPr>
          <p:cNvPr id="11" name="Text 8"/>
          <p:cNvSpPr txBox="1"/>
          <p:nvPr/>
        </p:nvSpPr>
        <p:spPr>
          <a:xfrm>
            <a:off x="566928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6217920" y="3465576"/>
            <a:ext cx="2468880" cy="1005840"/>
          </a:xfrm>
          <a:prstGeom prst="rect">
            <a:avLst/>
          </a:prstGeom>
          <a:noFill/>
          <a:ln/>
        </p:spPr>
        <p:txBody>
          <a:bodyPr wrap="square" lIns="0" tIns="0" rIns="0" bIns="0" rtlCol="0" anchor="t"/>
          <a:lstStyle/>
          <a:p>
            <a:pPr indent="0" marL="0">
              <a:buNone/>
            </a:pPr>
            <a:r>
              <a:rPr lang="en-US" sz="1300" b="1" dirty="0">
                <a:solidFill>
                  <a:schemeClr val="tx2"/>
                </a:solidFill>
              </a:rPr>
              <a:t>k = 50, 1/0 values</a:t>
            </a:r>
            <a:endParaRPr lang="en-US" sz="1300" dirty="0"/>
          </a:p>
          <a:p>
            <a:pPr indent="0" marL="0">
              <a:buNone/>
            </a:pPr>
            <a:r>
              <a:rPr lang="en-US" sz="1300" dirty="0">
                <a:solidFill>
                  <a:schemeClr val="tx1"/>
                </a:solidFill>
              </a:rPr>
              <a:t>k = 100 gave 40.3%, within noise, at twice the size.</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Six customer groups marketing can name</a:t>
            </a:r>
            <a:endParaRPr lang="en-US" sz="2600" dirty="0"/>
          </a:p>
        </p:txBody>
      </p:sp>
      <p:sp>
        <p:nvSpPr>
          <p:cNvPr id="3" name="seg-0"/>
          <p:cNvSpPr/>
          <p:nvPr/>
        </p:nvSpPr>
        <p:spPr>
          <a:xfrm>
            <a:off x="457200" y="1143000"/>
            <a:ext cx="2615184" cy="1417320"/>
          </a:xfrm>
          <a:prstGeom prst="roundRect">
            <a:avLst>
              <a:gd name="adj" fmla="val 7742"/>
            </a:avLst>
          </a:prstGeom>
          <a:solidFill>
            <a:schemeClr val="bg2"/>
          </a:solidFill>
          <a:ln w="12700">
            <a:solidFill>
              <a:schemeClr val="bg2"/>
            </a:solidFill>
            <a:prstDash val="solid"/>
          </a:ln>
        </p:spPr>
      </p:sp>
      <p:sp>
        <p:nvSpPr>
          <p:cNvPr id="4" name="Text 2"/>
          <p:cNvSpPr txBox="1"/>
          <p:nvPr/>
        </p:nvSpPr>
        <p:spPr>
          <a:xfrm>
            <a:off x="621792" y="1252728"/>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23%</a:t>
            </a:r>
            <a:endParaRPr lang="en-US" sz="2600" dirty="0"/>
          </a:p>
        </p:txBody>
      </p:sp>
      <p:sp>
        <p:nvSpPr>
          <p:cNvPr id="5" name="Text 3"/>
          <p:cNvSpPr txBox="1"/>
          <p:nvPr/>
        </p:nvSpPr>
        <p:spPr>
          <a:xfrm>
            <a:off x="621792" y="1691640"/>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Cosy Comfort Gifts</a:t>
            </a:r>
            <a:endParaRPr lang="en-US" sz="1400" dirty="0"/>
          </a:p>
        </p:txBody>
      </p:sp>
      <p:sp>
        <p:nvSpPr>
          <p:cNvPr id="6" name="Text 4"/>
          <p:cNvSpPr txBox="1"/>
          <p:nvPr/>
        </p:nvSpPr>
        <p:spPr>
          <a:xfrm>
            <a:off x="621792" y="2011680"/>
            <a:ext cx="2331720" cy="502920"/>
          </a:xfrm>
          <a:prstGeom prst="rect">
            <a:avLst/>
          </a:prstGeom>
          <a:noFill/>
          <a:ln/>
        </p:spPr>
        <p:txBody>
          <a:bodyPr wrap="square" lIns="0" tIns="0" rIns="0" bIns="0" rtlCol="0" anchor="t"/>
          <a:lstStyle/>
          <a:p>
            <a:pPr indent="0" marL="0">
              <a:buNone/>
            </a:pPr>
            <a:r>
              <a:rPr lang="en-US" sz="1100" dirty="0">
                <a:solidFill>
                  <a:schemeClr val="tx1"/>
                </a:solidFill>
              </a:rPr>
              <a:t>Hot water bottles, chocolate-themed gifts · smallest orders</a:t>
            </a:r>
            <a:endParaRPr lang="en-US" sz="1100" dirty="0"/>
          </a:p>
        </p:txBody>
      </p:sp>
      <p:sp>
        <p:nvSpPr>
          <p:cNvPr id="7" name="seg-1"/>
          <p:cNvSpPr/>
          <p:nvPr/>
        </p:nvSpPr>
        <p:spPr>
          <a:xfrm>
            <a:off x="3264408" y="1143000"/>
            <a:ext cx="2615184"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3429000" y="1252728"/>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22%</a:t>
            </a:r>
            <a:endParaRPr lang="en-US" sz="2600" dirty="0"/>
          </a:p>
        </p:txBody>
      </p:sp>
      <p:sp>
        <p:nvSpPr>
          <p:cNvPr id="9" name="Text 7"/>
          <p:cNvSpPr txBox="1"/>
          <p:nvPr/>
        </p:nvSpPr>
        <p:spPr>
          <a:xfrm>
            <a:off x="3429000" y="1691640"/>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Romantic Home Décor</a:t>
            </a:r>
            <a:endParaRPr lang="en-US" sz="1400" dirty="0"/>
          </a:p>
        </p:txBody>
      </p:sp>
      <p:sp>
        <p:nvSpPr>
          <p:cNvPr id="10" name="Text 8"/>
          <p:cNvSpPr txBox="1"/>
          <p:nvPr/>
        </p:nvSpPr>
        <p:spPr>
          <a:xfrm>
            <a:off x="3429000" y="2011680"/>
            <a:ext cx="2331720" cy="502920"/>
          </a:xfrm>
          <a:prstGeom prst="rect">
            <a:avLst/>
          </a:prstGeom>
          <a:noFill/>
          <a:ln/>
        </p:spPr>
        <p:txBody>
          <a:bodyPr wrap="square" lIns="0" tIns="0" rIns="0" bIns="0" rtlCol="0" anchor="t"/>
          <a:lstStyle/>
          <a:p>
            <a:pPr indent="0" marL="0">
              <a:buNone/>
            </a:pPr>
            <a:r>
              <a:rPr lang="en-US" sz="1100" dirty="0">
                <a:solidFill>
                  <a:schemeClr val="tx1"/>
                </a:solidFill>
              </a:rPr>
              <a:t>Heart decorations, lanterns, trellis · 98% UK</a:t>
            </a:r>
            <a:endParaRPr lang="en-US" sz="1100" dirty="0"/>
          </a:p>
        </p:txBody>
      </p:sp>
      <p:sp>
        <p:nvSpPr>
          <p:cNvPr id="11" name="seg-2"/>
          <p:cNvSpPr/>
          <p:nvPr/>
        </p:nvSpPr>
        <p:spPr>
          <a:xfrm>
            <a:off x="6071616" y="1143000"/>
            <a:ext cx="2615184" cy="1417320"/>
          </a:xfrm>
          <a:prstGeom prst="roundRect">
            <a:avLst>
              <a:gd name="adj" fmla="val 7742"/>
            </a:avLst>
          </a:prstGeom>
          <a:solidFill>
            <a:schemeClr val="bg2"/>
          </a:solidFill>
          <a:ln w="12700">
            <a:solidFill>
              <a:schemeClr val="bg2"/>
            </a:solidFill>
            <a:prstDash val="solid"/>
          </a:ln>
        </p:spPr>
      </p:sp>
      <p:sp>
        <p:nvSpPr>
          <p:cNvPr id="12" name="Text 10"/>
          <p:cNvSpPr txBox="1"/>
          <p:nvPr/>
        </p:nvSpPr>
        <p:spPr>
          <a:xfrm>
            <a:off x="6236208" y="1252728"/>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19%</a:t>
            </a:r>
            <a:endParaRPr lang="en-US" sz="2600" dirty="0"/>
          </a:p>
        </p:txBody>
      </p:sp>
      <p:sp>
        <p:nvSpPr>
          <p:cNvPr id="13" name="Text 11"/>
          <p:cNvSpPr txBox="1"/>
          <p:nvPr/>
        </p:nvSpPr>
        <p:spPr>
          <a:xfrm>
            <a:off x="6236208" y="1691640"/>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Kids' Crafts &amp; Games</a:t>
            </a:r>
            <a:endParaRPr lang="en-US" sz="1400" dirty="0"/>
          </a:p>
        </p:txBody>
      </p:sp>
      <p:sp>
        <p:nvSpPr>
          <p:cNvPr id="14" name="Text 12"/>
          <p:cNvSpPr txBox="1"/>
          <p:nvPr/>
        </p:nvSpPr>
        <p:spPr>
          <a:xfrm>
            <a:off x="6236208" y="2011680"/>
            <a:ext cx="2331720" cy="502920"/>
          </a:xfrm>
          <a:prstGeom prst="rect">
            <a:avLst/>
          </a:prstGeom>
          <a:noFill/>
          <a:ln/>
        </p:spPr>
        <p:txBody>
          <a:bodyPr wrap="square" lIns="0" tIns="0" rIns="0" bIns="0" rtlCol="0" anchor="t"/>
          <a:lstStyle/>
          <a:p>
            <a:pPr indent="0" marL="0">
              <a:buNone/>
            </a:pPr>
            <a:r>
              <a:rPr lang="en-US" sz="1100" dirty="0">
                <a:solidFill>
                  <a:schemeClr val="tx1"/>
                </a:solidFill>
              </a:rPr>
              <a:t>Crayons, paint sets, Ludo, coloured pencils</a:t>
            </a:r>
            <a:endParaRPr lang="en-US" sz="1100" dirty="0"/>
          </a:p>
        </p:txBody>
      </p:sp>
      <p:sp>
        <p:nvSpPr>
          <p:cNvPr id="15" name="seg-3"/>
          <p:cNvSpPr/>
          <p:nvPr/>
        </p:nvSpPr>
        <p:spPr>
          <a:xfrm>
            <a:off x="457200" y="2715768"/>
            <a:ext cx="2615184" cy="1417320"/>
          </a:xfrm>
          <a:prstGeom prst="roundRect">
            <a:avLst>
              <a:gd name="adj" fmla="val 7742"/>
            </a:avLst>
          </a:prstGeom>
          <a:solidFill>
            <a:schemeClr val="bg2"/>
          </a:solidFill>
          <a:ln w="12700">
            <a:solidFill>
              <a:schemeClr val="bg2"/>
            </a:solidFill>
            <a:prstDash val="solid"/>
          </a:ln>
        </p:spPr>
      </p:sp>
      <p:sp>
        <p:nvSpPr>
          <p:cNvPr id="16" name="Text 14"/>
          <p:cNvSpPr txBox="1"/>
          <p:nvPr/>
        </p:nvSpPr>
        <p:spPr>
          <a:xfrm>
            <a:off x="621792" y="2825496"/>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15%</a:t>
            </a:r>
            <a:endParaRPr lang="en-US" sz="2600" dirty="0"/>
          </a:p>
        </p:txBody>
      </p:sp>
      <p:sp>
        <p:nvSpPr>
          <p:cNvPr id="17" name="Text 15"/>
          <p:cNvSpPr txBox="1"/>
          <p:nvPr/>
        </p:nvSpPr>
        <p:spPr>
          <a:xfrm>
            <a:off x="621792" y="3264408"/>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Bags &amp; Storage Bulk Buyers</a:t>
            </a:r>
            <a:endParaRPr lang="en-US" sz="1400" dirty="0"/>
          </a:p>
        </p:txBody>
      </p:sp>
      <p:sp>
        <p:nvSpPr>
          <p:cNvPr id="18" name="Text 16"/>
          <p:cNvSpPr txBox="1"/>
          <p:nvPr/>
        </p:nvSpPr>
        <p:spPr>
          <a:xfrm>
            <a:off x="621792" y="3584448"/>
            <a:ext cx="2331720" cy="502920"/>
          </a:xfrm>
          <a:prstGeom prst="rect">
            <a:avLst/>
          </a:prstGeom>
          <a:noFill/>
          <a:ln/>
        </p:spPr>
        <p:txBody>
          <a:bodyPr wrap="square" lIns="0" tIns="0" rIns="0" bIns="0" rtlCol="0" anchor="t"/>
          <a:lstStyle/>
          <a:p>
            <a:pPr indent="0" marL="0">
              <a:buNone/>
            </a:pPr>
            <a:r>
              <a:rPr lang="en-US" sz="1100" dirty="0">
                <a:solidFill>
                  <a:schemeClr val="tx1"/>
                </a:solidFill>
              </a:rPr>
              <a:t>Jumbo bags in many designs · largest orders</a:t>
            </a:r>
            <a:endParaRPr lang="en-US" sz="1100" dirty="0"/>
          </a:p>
        </p:txBody>
      </p:sp>
      <p:sp>
        <p:nvSpPr>
          <p:cNvPr id="19" name="seg-4"/>
          <p:cNvSpPr/>
          <p:nvPr/>
        </p:nvSpPr>
        <p:spPr>
          <a:xfrm>
            <a:off x="3264408" y="2715768"/>
            <a:ext cx="2615184" cy="1417320"/>
          </a:xfrm>
          <a:prstGeom prst="roundRect">
            <a:avLst>
              <a:gd name="adj" fmla="val 7742"/>
            </a:avLst>
          </a:prstGeom>
          <a:solidFill>
            <a:schemeClr val="bg2"/>
          </a:solidFill>
          <a:ln w="12700">
            <a:solidFill>
              <a:schemeClr val="bg2"/>
            </a:solidFill>
            <a:prstDash val="solid"/>
          </a:ln>
        </p:spPr>
      </p:sp>
      <p:sp>
        <p:nvSpPr>
          <p:cNvPr id="20" name="Text 18"/>
          <p:cNvSpPr txBox="1"/>
          <p:nvPr/>
        </p:nvSpPr>
        <p:spPr>
          <a:xfrm>
            <a:off x="3429000" y="2825496"/>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14%</a:t>
            </a:r>
            <a:endParaRPr lang="en-US" sz="2600" dirty="0"/>
          </a:p>
        </p:txBody>
      </p:sp>
      <p:sp>
        <p:nvSpPr>
          <p:cNvPr id="21" name="Text 19"/>
          <p:cNvSpPr txBox="1"/>
          <p:nvPr/>
        </p:nvSpPr>
        <p:spPr>
          <a:xfrm>
            <a:off x="3429000" y="3264408"/>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Party Supplies</a:t>
            </a:r>
            <a:endParaRPr lang="en-US" sz="1400" dirty="0"/>
          </a:p>
        </p:txBody>
      </p:sp>
      <p:sp>
        <p:nvSpPr>
          <p:cNvPr id="22" name="Text 20"/>
          <p:cNvSpPr txBox="1"/>
          <p:nvPr/>
        </p:nvSpPr>
        <p:spPr>
          <a:xfrm>
            <a:off x="3429000" y="3584448"/>
            <a:ext cx="2331720" cy="502920"/>
          </a:xfrm>
          <a:prstGeom prst="rect">
            <a:avLst/>
          </a:prstGeom>
          <a:noFill/>
          <a:ln/>
        </p:spPr>
        <p:txBody>
          <a:bodyPr wrap="square" lIns="0" tIns="0" rIns="0" bIns="0" rtlCol="0" anchor="t"/>
          <a:lstStyle/>
          <a:p>
            <a:pPr indent="0" marL="0">
              <a:buNone/>
            </a:pPr>
            <a:r>
              <a:rPr lang="en-US" sz="1100" dirty="0">
                <a:solidFill>
                  <a:schemeClr val="tx1"/>
                </a:solidFill>
              </a:rPr>
              <a:t>Paper plates, cups, cake cases · most international</a:t>
            </a:r>
            <a:endParaRPr lang="en-US" sz="1100" dirty="0"/>
          </a:p>
        </p:txBody>
      </p:sp>
      <p:sp>
        <p:nvSpPr>
          <p:cNvPr id="23" name="seg-5"/>
          <p:cNvSpPr/>
          <p:nvPr/>
        </p:nvSpPr>
        <p:spPr>
          <a:xfrm>
            <a:off x="6071616" y="2715768"/>
            <a:ext cx="2615184" cy="1417320"/>
          </a:xfrm>
          <a:prstGeom prst="roundRect">
            <a:avLst>
              <a:gd name="adj" fmla="val 7742"/>
            </a:avLst>
          </a:prstGeom>
          <a:solidFill>
            <a:schemeClr val="bg2"/>
          </a:solidFill>
          <a:ln w="12700">
            <a:solidFill>
              <a:schemeClr val="bg2"/>
            </a:solidFill>
            <a:prstDash val="solid"/>
          </a:ln>
        </p:spPr>
      </p:sp>
      <p:sp>
        <p:nvSpPr>
          <p:cNvPr id="24" name="Text 22"/>
          <p:cNvSpPr txBox="1"/>
          <p:nvPr/>
        </p:nvSpPr>
        <p:spPr>
          <a:xfrm>
            <a:off x="6236208" y="2825496"/>
            <a:ext cx="914400" cy="45720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8%</a:t>
            </a:r>
            <a:endParaRPr lang="en-US" sz="2600" dirty="0"/>
          </a:p>
        </p:txBody>
      </p:sp>
      <p:sp>
        <p:nvSpPr>
          <p:cNvPr id="25" name="Text 23"/>
          <p:cNvSpPr txBox="1"/>
          <p:nvPr/>
        </p:nvSpPr>
        <p:spPr>
          <a:xfrm>
            <a:off x="6236208" y="3264408"/>
            <a:ext cx="2331720" cy="320040"/>
          </a:xfrm>
          <a:prstGeom prst="rect">
            <a:avLst/>
          </a:prstGeom>
          <a:noFill/>
          <a:ln/>
        </p:spPr>
        <p:txBody>
          <a:bodyPr wrap="square" lIns="0" tIns="0" rIns="0" bIns="0" rtlCol="0" anchor="ctr"/>
          <a:lstStyle/>
          <a:p>
            <a:pPr indent="0" marL="0">
              <a:buNone/>
            </a:pPr>
            <a:r>
              <a:rPr lang="en-US" sz="1400" b="1" dirty="0">
                <a:solidFill>
                  <a:schemeClr val="tx2"/>
                </a:solidFill>
              </a:rPr>
              <a:t>Vintage Tea Party</a:t>
            </a:r>
            <a:endParaRPr lang="en-US" sz="1400" dirty="0"/>
          </a:p>
        </p:txBody>
      </p:sp>
      <p:sp>
        <p:nvSpPr>
          <p:cNvPr id="26" name="Text 24"/>
          <p:cNvSpPr txBox="1"/>
          <p:nvPr/>
        </p:nvSpPr>
        <p:spPr>
          <a:xfrm>
            <a:off x="6236208" y="3584448"/>
            <a:ext cx="2331720" cy="502920"/>
          </a:xfrm>
          <a:prstGeom prst="rect">
            <a:avLst/>
          </a:prstGeom>
          <a:noFill/>
          <a:ln/>
        </p:spPr>
        <p:txBody>
          <a:bodyPr wrap="square" lIns="0" tIns="0" rIns="0" bIns="0" rtlCol="0" anchor="t"/>
          <a:lstStyle/>
          <a:p>
            <a:pPr indent="0" marL="0">
              <a:buNone/>
            </a:pPr>
            <a:r>
              <a:rPr lang="en-US" sz="1100" dirty="0">
                <a:solidFill>
                  <a:schemeClr val="tx1"/>
                </a:solidFill>
              </a:rPr>
              <a:t>Regency teacups, plates, milk jugs</a:t>
            </a:r>
            <a:endParaRPr lang="en-US" sz="1100" dirty="0"/>
          </a:p>
        </p:txBody>
      </p:sp>
      <p:sp>
        <p:nvSpPr>
          <p:cNvPr id="27" name="Text 25"/>
          <p:cNvSpPr txBox="1"/>
          <p:nvPr/>
        </p:nvSpPr>
        <p:spPr>
          <a:xfrm>
            <a:off x="457200" y="4343400"/>
            <a:ext cx="7863840" cy="320040"/>
          </a:xfrm>
          <a:prstGeom prst="rect">
            <a:avLst/>
          </a:prstGeom>
          <a:noFill/>
          <a:ln/>
        </p:spPr>
        <p:txBody>
          <a:bodyPr wrap="square" lIns="0" tIns="0" rIns="0" bIns="0" rtlCol="0" anchor="ctr"/>
          <a:lstStyle/>
          <a:p>
            <a:pPr indent="0" marL="0">
              <a:buNone/>
            </a:pPr>
            <a:r>
              <a:rPr lang="en-US" sz="1100" i="1" dirty="0">
                <a:solidFill>
                  <a:srgbClr val="555555"/>
                </a:solidFill>
              </a:rPr>
              <a:t>Groups overlap (silhouette ≈ 0.05): read each as a customer's main interest. Country barely separates them.</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rPr>
              <a:t>What could go wrong, and what to do next</a:t>
            </a:r>
            <a:endParaRPr lang="en-US" sz="2600" dirty="0"/>
          </a:p>
        </p:txBody>
      </p:sp>
      <p:sp>
        <p:nvSpPr>
          <p:cNvPr id="3" name="risks-card"/>
          <p:cNvSpPr/>
          <p:nvPr/>
        </p:nvSpPr>
        <p:spPr>
          <a:xfrm>
            <a:off x="457200" y="1188720"/>
            <a:ext cx="3977640" cy="2651760"/>
          </a:xfrm>
          <a:prstGeom prst="roundRect">
            <a:avLst>
              <a:gd name="adj" fmla="val 4138"/>
            </a:avLst>
          </a:prstGeom>
          <a:solidFill>
            <a:schemeClr val="bg2"/>
          </a:solidFill>
          <a:ln w="12700">
            <a:solidFill>
              <a:schemeClr val="bg2"/>
            </a:solidFill>
            <a:prstDash val="solid"/>
          </a:ln>
        </p:spPr>
      </p:sp>
      <p:sp>
        <p:nvSpPr>
          <p:cNvPr id="4" name="Text 2"/>
          <p:cNvSpPr txBox="1"/>
          <p:nvPr/>
        </p:nvSpPr>
        <p:spPr>
          <a:xfrm>
            <a:off x="640080" y="1325880"/>
            <a:ext cx="3611880" cy="237744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Risks</a:t>
            </a:r>
            <a:endParaRPr lang="en-US" sz="1400" dirty="0"/>
          </a:p>
          <a:p>
            <a:pPr marL="342900" indent="-342900">
              <a:spcAft>
                <a:spcPts val="600"/>
              </a:spcAft>
              <a:buSzPct val="100000"/>
              <a:buChar char="•"/>
            </a:pPr>
            <a:r>
              <a:rPr lang="en-US" sz="1400" dirty="0">
                <a:solidFill>
                  <a:schemeClr val="tx1"/>
                </a:solidFill>
              </a:rPr>
              <a:t>New customers (16%) have no history: they see best sellers</a:t>
            </a:r>
            <a:endParaRPr lang="en-US" sz="1400" dirty="0"/>
          </a:p>
          <a:p>
            <a:pPr marL="342900" indent="-342900">
              <a:spcAft>
                <a:spcPts val="600"/>
              </a:spcAft>
              <a:buSzPct val="100000"/>
              <a:buChar char="•"/>
            </a:pPr>
            <a:r>
              <a:rPr lang="en-US" sz="1400" dirty="0">
                <a:solidFill>
                  <a:schemeClr val="tx1"/>
                </a:solidFill>
              </a:rPr>
              <a:t>Tested on Oct–Dec: may be weaker in quiet months</a:t>
            </a:r>
            <a:endParaRPr lang="en-US" sz="1400" dirty="0"/>
          </a:p>
          <a:p>
            <a:pPr marL="342900" indent="-342900">
              <a:spcAft>
                <a:spcPts val="600"/>
              </a:spcAft>
              <a:buSzPct val="100000"/>
              <a:buChar char="•"/>
            </a:pPr>
            <a:r>
              <a:rPr lang="en-US" sz="1400" dirty="0">
                <a:solidFill>
                  <a:schemeClr val="tx1"/>
                </a:solidFill>
              </a:rPr>
              <a:t>Lists repeat variants of the same item</a:t>
            </a:r>
            <a:endParaRPr lang="en-US" sz="1400" dirty="0"/>
          </a:p>
          <a:p>
            <a:pPr marL="342900" indent="-342900">
              <a:spcAft>
                <a:spcPts val="600"/>
              </a:spcAft>
              <a:buSzPct val="100000"/>
              <a:buChar char="•"/>
            </a:pPr>
            <a:r>
              <a:rPr lang="en-US" sz="1400" dirty="0">
                <a:solidFill>
                  <a:schemeClr val="tx1"/>
                </a:solidFill>
              </a:rPr>
              <a:t>Settings chosen on the test months: slightly optimistic</a:t>
            </a:r>
            <a:endParaRPr lang="en-US" sz="1400" dirty="0"/>
          </a:p>
        </p:txBody>
      </p:sp>
      <p:sp>
        <p:nvSpPr>
          <p:cNvPr id="5" name="next-card"/>
          <p:cNvSpPr/>
          <p:nvPr/>
        </p:nvSpPr>
        <p:spPr>
          <a:xfrm>
            <a:off x="4709160" y="1188720"/>
            <a:ext cx="3977640" cy="2651760"/>
          </a:xfrm>
          <a:prstGeom prst="roundRect">
            <a:avLst>
              <a:gd name="adj" fmla="val 4138"/>
            </a:avLst>
          </a:prstGeom>
          <a:solidFill>
            <a:schemeClr val="accent1"/>
          </a:solidFill>
          <a:ln w="12700">
            <a:solidFill>
              <a:schemeClr val="accent1"/>
            </a:solidFill>
            <a:prstDash val="solid"/>
          </a:ln>
        </p:spPr>
      </p:sp>
      <p:sp>
        <p:nvSpPr>
          <p:cNvPr id="6" name="Text 4"/>
          <p:cNvSpPr txBox="1"/>
          <p:nvPr/>
        </p:nvSpPr>
        <p:spPr>
          <a:xfrm>
            <a:off x="4892040" y="1325880"/>
            <a:ext cx="3611880" cy="2377440"/>
          </a:xfrm>
          <a:prstGeom prst="rect">
            <a:avLst/>
          </a:prstGeom>
          <a:noFill/>
          <a:ln/>
        </p:spPr>
        <p:txBody>
          <a:bodyPr wrap="square" lIns="0" tIns="0" rIns="0" bIns="0" rtlCol="0" anchor="t"/>
          <a:lstStyle/>
          <a:p>
            <a:pPr indent="0" marL="0">
              <a:spcAft>
                <a:spcPts val="600"/>
              </a:spcAft>
              <a:buNone/>
            </a:pPr>
            <a:r>
              <a:rPr lang="en-US" sz="1800" b="1" dirty="0">
                <a:solidFill>
                  <a:schemeClr val="bg1"/>
                </a:solidFill>
              </a:rPr>
              <a:t>Next steps</a:t>
            </a:r>
            <a:endParaRPr lang="en-US" sz="1400" dirty="0"/>
          </a:p>
          <a:p>
            <a:pPr marL="342900" indent="-342900">
              <a:spcAft>
                <a:spcPts val="600"/>
              </a:spcAft>
              <a:buSzPct val="100000"/>
              <a:buChar char="•"/>
            </a:pPr>
            <a:r>
              <a:rPr lang="en-US" sz="1400" dirty="0">
                <a:solidFill>
                  <a:schemeClr val="bg1"/>
                </a:solidFill>
              </a:rPr>
              <a:t>Live A/B test against best sellers</a:t>
            </a:r>
            <a:endParaRPr lang="en-US" sz="1400" dirty="0"/>
          </a:p>
          <a:p>
            <a:pPr marL="342900" indent="-342900">
              <a:spcAft>
                <a:spcPts val="600"/>
              </a:spcAft>
              <a:buSzPct val="100000"/>
              <a:buChar char="•"/>
            </a:pPr>
            <a:r>
              <a:rPr lang="en-US" sz="1400" dirty="0">
                <a:solidFill>
                  <a:schemeClr val="bg1"/>
                </a:solidFill>
              </a:rPr>
              <a:t>Max two items per product family</a:t>
            </a:r>
            <a:endParaRPr lang="en-US" sz="1400" dirty="0"/>
          </a:p>
          <a:p>
            <a:pPr marL="342900" indent="-342900">
              <a:spcAft>
                <a:spcPts val="600"/>
              </a:spcAft>
              <a:buSzPct val="100000"/>
              <a:buChar char="•"/>
            </a:pPr>
            <a:r>
              <a:rPr lang="en-US" sz="1400" dirty="0">
                <a:solidFill>
                  <a:schemeClr val="bg1"/>
                </a:solidFill>
              </a:rPr>
              <a:t>Retrain monthly; confirm on separate months</a:t>
            </a:r>
            <a:endParaRPr lang="en-US" sz="1400" dirty="0"/>
          </a:p>
          <a:p>
            <a:pPr marL="342900" indent="-342900">
              <a:spcAft>
                <a:spcPts val="600"/>
              </a:spcAft>
              <a:buSzPct val="100000"/>
              <a:buChar char="•"/>
            </a:pPr>
            <a:r>
              <a:rPr lang="en-US" sz="1400" dirty="0">
                <a:solidFill>
                  <a:schemeClr val="bg1"/>
                </a:solidFill>
              </a:rPr>
              <a:t>Best sellers for new customers until first order</a:t>
            </a:r>
            <a:endParaRPr lang="en-US" sz="1400" dirty="0"/>
          </a:p>
        </p:txBody>
      </p:sp>
      <p:sp>
        <p:nvSpPr>
          <p:cNvPr id="7" name="Text 5"/>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500" b="1" i="1" dirty="0">
                <a:solidFill>
                  <a:schemeClr val="accent2"/>
                </a:solidFill>
              </a:rPr>
              <a:t>Recommendation: launch the box on a share of product pages and measure it against best sellers.</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GiftLane Plum">
  <a:themeElements>
    <a:clrScheme name="GiftLane Plum">
      <a:dk1>
        <a:srgbClr val="2B2B2B"/>
      </a:dk1>
      <a:lt1>
        <a:srgbClr val="FFFFFF"/>
      </a:lt1>
      <a:dk2>
        <a:srgbClr val="5B2245"/>
      </a:dk2>
      <a:lt2>
        <a:srgbClr val="F4ECF1"/>
      </a:lt2>
      <a:accent1>
        <a:srgbClr val="5B2245"/>
      </a:accent1>
      <a:accent2>
        <a:srgbClr val="C2577F"/>
      </a:accent2>
      <a:accent3>
        <a:srgbClr val="D9A441"/>
      </a:accent3>
      <a:accent4>
        <a:srgbClr val="8C8C8C"/>
      </a:accent4>
      <a:accent5>
        <a:srgbClr val="3F6E6A"/>
      </a:accent5>
      <a:accent6>
        <a:srgbClr val="B9A3B1"/>
      </a:accent6>
      <a:hlink>
        <a:srgbClr val="C2577F"/>
      </a:hlink>
      <a:folHlink>
        <a:srgbClr val="8C8C8C"/>
      </a:folHlink>
    </a:clrScheme>
    <a:fontScheme name="GiftLane Plu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Customers Like You: PCA or SVD</dc:title>
  <dc:subject>PptxGenJS Presentation</dc:subject>
  <dc:creator>Aditya Vishwanath</dc:creator>
  <cp:lastModifiedBy>Aditya Vishwanath</cp:lastModifiedBy>
  <cp:revision>1</cp:revision>
  <dcterms:created xsi:type="dcterms:W3CDTF">2026-10-12T19:40:21Z</dcterms:created>
  <dcterms:modified xsi:type="dcterms:W3CDTF">2026-10-12T19:40:21Z</dcterms:modified>
</cp:coreProperties>
</file>